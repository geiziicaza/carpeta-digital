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Canva Sans Bold" panose="020B0604020202020204" charset="0"/>
      <p:regular r:id="rId18"/>
    </p:embeddedFont>
    <p:embeddedFont>
      <p:font typeface="Disket Mono" panose="020B0604020202020204" charset="0"/>
      <p:regular r:id="rId19"/>
    </p:embeddedFont>
    <p:embeddedFont>
      <p:font typeface="Howell" panose="020B0604020202020204" charset="0"/>
      <p:regular r:id="rId20"/>
    </p:embeddedFont>
    <p:embeddedFont>
      <p:font typeface="Impact" panose="020B0806030902050204" pitchFamily="34" charset="0"/>
      <p:regular r:id="rId21"/>
    </p:embeddedFont>
    <p:embeddedFont>
      <p:font typeface="Poppins" panose="00000500000000000000" pitchFamily="2" charset="0"/>
      <p:regular r:id="rId22"/>
      <p:bold r:id="rId23"/>
      <p:italic r:id="rId24"/>
      <p:boldItalic r:id="rId25"/>
    </p:embeddedFont>
    <p:embeddedFont>
      <p:font typeface="Poppins Bold" panose="00000800000000000000" charset="0"/>
      <p:regular r:id="rId26"/>
    </p:embeddedFont>
    <p:embeddedFont>
      <p:font typeface="Poppins Bold Italics" panose="020B0604020202020204" charset="0"/>
      <p:regular r:id="rId27"/>
    </p:embeddedFont>
    <p:embeddedFont>
      <p:font typeface="The Seasons" panose="020B0604020202020204" charset="0"/>
      <p:regular r:id="rId2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22" autoAdjust="0"/>
  </p:normalViewPr>
  <p:slideViewPr>
    <p:cSldViewPr>
      <p:cViewPr varScale="1">
        <p:scale>
          <a:sx n="41" d="100"/>
          <a:sy n="41" d="100"/>
        </p:scale>
        <p:origin x="768"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image" Target="../media/image8.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image" Target="../media/image17.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2.emf"/></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 useBgFill="1">
        <p:nvSpPr>
          <p:cNvPr id="12" name="Freeform 11"/>
          <p:cNvSpPr/>
          <p:nvPr/>
        </p:nvSpPr>
        <p:spPr>
          <a:xfrm>
            <a:off x="-23813" y="1"/>
            <a:ext cx="17525715" cy="9882188"/>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1" y="6423386"/>
            <a:ext cx="16993886" cy="3043268"/>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1" y="1"/>
            <a:ext cx="13079369" cy="685316"/>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242700" y="439976"/>
            <a:ext cx="17050674" cy="8627706"/>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1336802" y="993984"/>
            <a:ext cx="14632781" cy="4149792"/>
          </a:xfrm>
        </p:spPr>
        <p:txBody>
          <a:bodyPr anchor="b">
            <a:normAutofit/>
          </a:bodyPr>
          <a:lstStyle>
            <a:lvl1pPr algn="r">
              <a:defRPr sz="12000"/>
            </a:lvl1pPr>
          </a:lstStyle>
          <a:p>
            <a:r>
              <a:rPr lang="es-ES"/>
              <a:t>Haga clic para modificar el estilo de título del patrón</a:t>
            </a:r>
            <a:endParaRPr lang="en-US" dirty="0"/>
          </a:p>
        </p:txBody>
      </p:sp>
      <p:sp>
        <p:nvSpPr>
          <p:cNvPr id="3" name="Subtitle 2"/>
          <p:cNvSpPr>
            <a:spLocks noGrp="1"/>
          </p:cNvSpPr>
          <p:nvPr>
            <p:ph type="subTitle" idx="1"/>
          </p:nvPr>
        </p:nvSpPr>
        <p:spPr>
          <a:xfrm rot="21420000">
            <a:off x="1474594" y="5257814"/>
            <a:ext cx="14632781" cy="825500"/>
          </a:xfrm>
        </p:spPr>
        <p:txBody>
          <a:bodyPr anchor="t">
            <a:noAutofit/>
          </a:bodyPr>
          <a:lstStyle>
            <a:lvl1pPr marL="0" indent="0" algn="r">
              <a:buNone/>
              <a:defRPr sz="4200">
                <a:solidFill>
                  <a:schemeClr val="bg1">
                    <a:lumMod val="50000"/>
                  </a:schemeClr>
                </a:solidFill>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rot="21420000">
            <a:off x="7422812" y="6867695"/>
            <a:ext cx="9215480" cy="1744668"/>
          </a:xfrm>
        </p:spPr>
        <p:txBody>
          <a:bodyPr/>
          <a:lstStyle>
            <a:lvl1pPr algn="ctr">
              <a:defRPr sz="8100">
                <a:solidFill>
                  <a:schemeClr val="accent1">
                    <a:lumMod val="50000"/>
                  </a:schemeClr>
                </a:solidFill>
              </a:defRPr>
            </a:lvl1p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a:xfrm rot="21420000">
            <a:off x="-8340" y="7324536"/>
            <a:ext cx="6070859" cy="1793307"/>
          </a:xfrm>
        </p:spPr>
        <p:txBody>
          <a:bodyPr vert="horz" lIns="91440" tIns="45720" rIns="91440" bIns="45720" rtlCol="0" anchor="ctr"/>
          <a:lstStyle>
            <a:lvl1pPr algn="r">
              <a:defRPr lang="en-US" sz="8100" dirty="0"/>
            </a:lvl1pPr>
          </a:lstStyle>
          <a:p>
            <a:endParaRPr lang="en-US"/>
          </a:p>
        </p:txBody>
      </p:sp>
      <p:sp>
        <p:nvSpPr>
          <p:cNvPr id="6" name="Slide Number Placeholder 5"/>
          <p:cNvSpPr>
            <a:spLocks noGrp="1"/>
          </p:cNvSpPr>
          <p:nvPr>
            <p:ph type="sldNum" sz="quarter" idx="12"/>
          </p:nvPr>
        </p:nvSpPr>
        <p:spPr>
          <a:xfrm rot="21420000">
            <a:off x="14777637" y="5748972"/>
            <a:ext cx="1360779" cy="747705"/>
          </a:xfrm>
        </p:spPr>
        <p:txBody>
          <a:bodyPr/>
          <a:lstStyle>
            <a:lvl1pPr>
              <a:defRPr sz="3600">
                <a:solidFill>
                  <a:schemeClr val="tx1">
                    <a:lumMod val="75000"/>
                    <a:lumOff val="25000"/>
                  </a:schemeClr>
                </a:solidFill>
              </a:defRPr>
            </a:lvl1pPr>
          </a:lstStyle>
          <a:p>
            <a:fld id="{B6F15528-21DE-4FAA-801E-634DDDAF4B2B}" type="slidenum">
              <a:rPr lang="en-US" smtClean="0"/>
              <a:pPr/>
              <a:t>‹Nº›</a:t>
            </a:fld>
            <a:endParaRPr lang="en-US"/>
          </a:p>
        </p:txBody>
      </p:sp>
      <p:sp>
        <p:nvSpPr>
          <p:cNvPr id="25" name="5-Point Star 24"/>
          <p:cNvSpPr/>
          <p:nvPr/>
        </p:nvSpPr>
        <p:spPr>
          <a:xfrm rot="21420000">
            <a:off x="6332078" y="7667034"/>
            <a:ext cx="773079" cy="773079"/>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763715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1028701" y="3095095"/>
            <a:ext cx="15592061" cy="496678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25619363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28702" y="1028701"/>
            <a:ext cx="15592061" cy="4790231"/>
          </a:xfrm>
        </p:spPr>
        <p:txBody>
          <a:bodyPr anchor="b">
            <a:normAutofit/>
          </a:bodyPr>
          <a:lstStyle>
            <a:lvl1pPr algn="l">
              <a:defRPr sz="81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8702" y="5613401"/>
            <a:ext cx="15592061" cy="2459421"/>
          </a:xfrm>
        </p:spPr>
        <p:txBody>
          <a:bodyPr anchor="t">
            <a:normAutofit/>
          </a:bodyPr>
          <a:lstStyle>
            <a:lvl1pPr marL="0" indent="0" algn="l">
              <a:buNone/>
              <a:defRPr sz="3000">
                <a:solidFill>
                  <a:schemeClr val="bg1">
                    <a:lumMod val="50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90089097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14" name="Title 1"/>
          <p:cNvSpPr>
            <a:spLocks noGrp="1"/>
          </p:cNvSpPr>
          <p:nvPr>
            <p:ph type="title"/>
          </p:nvPr>
        </p:nvSpPr>
        <p:spPr>
          <a:xfrm>
            <a:off x="1028702" y="1028700"/>
            <a:ext cx="15595323" cy="1737210"/>
          </a:xfrm>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1028700" y="3095095"/>
            <a:ext cx="7633071" cy="4966784"/>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3" name="Content Placeholder 3"/>
          <p:cNvSpPr>
            <a:spLocks noGrp="1"/>
          </p:cNvSpPr>
          <p:nvPr>
            <p:ph sz="quarter" idx="14"/>
          </p:nvPr>
        </p:nvSpPr>
        <p:spPr>
          <a:xfrm>
            <a:off x="8990957" y="3095095"/>
            <a:ext cx="7629807" cy="4966784"/>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02050623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4" name="Title 1"/>
          <p:cNvSpPr>
            <a:spLocks noGrp="1"/>
          </p:cNvSpPr>
          <p:nvPr>
            <p:ph type="title"/>
          </p:nvPr>
        </p:nvSpPr>
        <p:spPr>
          <a:xfrm>
            <a:off x="1028702" y="1028700"/>
            <a:ext cx="15592061" cy="1737210"/>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7534" y="3095094"/>
            <a:ext cx="7284237" cy="1019991"/>
          </a:xfrm>
        </p:spPr>
        <p:txBody>
          <a:bodyPr anchor="b">
            <a:noAutofit/>
          </a:bodyPr>
          <a:lstStyle>
            <a:lvl1pPr marL="0" indent="0">
              <a:lnSpc>
                <a:spcPct val="90000"/>
              </a:lnSpc>
              <a:buNone/>
              <a:defRPr sz="39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s-ES"/>
              <a:t>Haga clic para modificar los estilos de texto del patrón</a:t>
            </a:r>
          </a:p>
        </p:txBody>
      </p:sp>
      <p:sp>
        <p:nvSpPr>
          <p:cNvPr id="12" name="Content Placeholder 3"/>
          <p:cNvSpPr>
            <a:spLocks noGrp="1"/>
          </p:cNvSpPr>
          <p:nvPr>
            <p:ph sz="quarter" idx="13"/>
          </p:nvPr>
        </p:nvSpPr>
        <p:spPr>
          <a:xfrm>
            <a:off x="1028703" y="4292600"/>
            <a:ext cx="7633068" cy="3769278"/>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9327287" y="3095094"/>
            <a:ext cx="7296737" cy="1019991"/>
          </a:xfrm>
        </p:spPr>
        <p:txBody>
          <a:bodyPr anchor="b">
            <a:noAutofit/>
          </a:bodyPr>
          <a:lstStyle>
            <a:lvl1pPr marL="0" indent="0">
              <a:lnSpc>
                <a:spcPct val="90000"/>
              </a:lnSpc>
              <a:buNone/>
              <a:defRPr sz="39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s-ES"/>
              <a:t>Haga clic para modificar los estilos de texto del patrón</a:t>
            </a:r>
          </a:p>
        </p:txBody>
      </p:sp>
      <p:sp>
        <p:nvSpPr>
          <p:cNvPr id="13" name="Content Placeholder 5"/>
          <p:cNvSpPr>
            <a:spLocks noGrp="1"/>
          </p:cNvSpPr>
          <p:nvPr>
            <p:ph sz="quarter" idx="14"/>
          </p:nvPr>
        </p:nvSpPr>
        <p:spPr>
          <a:xfrm>
            <a:off x="8990954" y="4292600"/>
            <a:ext cx="7633070" cy="3769278"/>
          </a:xfrm>
        </p:spPr>
        <p:txBody>
          <a:bodyPr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17727921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42609580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420677288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0465" y="1028700"/>
            <a:ext cx="6190290" cy="3034878"/>
          </a:xfrm>
        </p:spPr>
        <p:txBody>
          <a:bodyPr anchor="b">
            <a:normAutofit/>
          </a:bodyPr>
          <a:lstStyle>
            <a:lvl1pPr algn="ctr">
              <a:defRPr sz="5400"/>
            </a:lvl1pPr>
          </a:lstStyle>
          <a:p>
            <a:r>
              <a:rPr lang="es-ES"/>
              <a:t>Haga clic para modificar el estilo de título del patrón</a:t>
            </a:r>
            <a:endParaRPr lang="en-US" dirty="0"/>
          </a:p>
        </p:txBody>
      </p:sp>
      <p:sp>
        <p:nvSpPr>
          <p:cNvPr id="10" name="Content Placeholder 2"/>
          <p:cNvSpPr>
            <a:spLocks noGrp="1"/>
          </p:cNvSpPr>
          <p:nvPr>
            <p:ph sz="quarter" idx="13"/>
          </p:nvPr>
        </p:nvSpPr>
        <p:spPr>
          <a:xfrm>
            <a:off x="7569199" y="1028701"/>
            <a:ext cx="9051563" cy="703317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0464" y="4063579"/>
            <a:ext cx="6190292" cy="3998300"/>
          </a:xfrm>
        </p:spPr>
        <p:txBody>
          <a:bodyPr anchor="t">
            <a:normAutofit/>
          </a:bodyPr>
          <a:lstStyle>
            <a:lvl1pPr marL="0" indent="0" algn="ctr">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414886537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28700" y="1028700"/>
            <a:ext cx="9517953" cy="3034878"/>
          </a:xfrm>
        </p:spPr>
        <p:txBody>
          <a:bodyPr anchor="b">
            <a:normAutofit/>
          </a:bodyPr>
          <a:lstStyle>
            <a:lvl1pPr algn="ctr">
              <a:defRPr sz="5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223543" y="1"/>
            <a:ext cx="5397219" cy="7607300"/>
          </a:xfrm>
          <a:ln w="57150" cmpd="thinThick">
            <a:solidFill>
              <a:schemeClr val="bg1">
                <a:lumMod val="50000"/>
              </a:schemeClr>
            </a:solidFill>
            <a:miter lim="800000"/>
          </a:ln>
        </p:spPr>
        <p:txBody>
          <a:bodyPr anchor="t"/>
          <a:lstStyle>
            <a:lvl1pPr marL="0" indent="0" algn="ctr">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28702" y="4063579"/>
            <a:ext cx="9517952" cy="3543722"/>
          </a:xfrm>
        </p:spPr>
        <p:txBody>
          <a:bodyPr anchor="t">
            <a:normAutofit/>
          </a:bodyPr>
          <a:lstStyle>
            <a:lvl1pPr marL="0" indent="0" algn="ctr">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64035842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028700" y="6159499"/>
            <a:ext cx="15592062" cy="883269"/>
          </a:xfrm>
        </p:spPr>
        <p:txBody>
          <a:bodyPr anchor="b"/>
          <a:lstStyle>
            <a:lvl1pPr>
              <a:defRPr sz="4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028702" y="1028699"/>
            <a:ext cx="15588770" cy="4792355"/>
          </a:xfrm>
          <a:ln w="57150" cmpd="thinThick">
            <a:solidFill>
              <a:schemeClr val="bg1">
                <a:lumMod val="50000"/>
              </a:schemeClr>
            </a:solidFill>
            <a:miter lim="800000"/>
          </a:ln>
        </p:spPr>
        <p:txBody>
          <a:bodyPr anchor="t"/>
          <a:lstStyle>
            <a:lvl1pPr marL="0" indent="0" algn="ctr">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28670" y="7054385"/>
            <a:ext cx="15592092" cy="1023708"/>
          </a:xfrm>
        </p:spPr>
        <p:txBody>
          <a:bodyPr anchor="t"/>
          <a:lstStyle>
            <a:lvl1pPr marL="0" indent="0" algn="l">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86801047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028702" y="1028701"/>
            <a:ext cx="15595353" cy="4792355"/>
          </a:xfrm>
        </p:spPr>
        <p:txBody>
          <a:bodyPr anchor="ctr">
            <a:normAutofit/>
          </a:bodyPr>
          <a:lstStyle>
            <a:lvl1pPr algn="ctr">
              <a:defRPr sz="7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8669" y="6159500"/>
            <a:ext cx="15592094" cy="1910409"/>
          </a:xfrm>
        </p:spPr>
        <p:txBody>
          <a:bodyPr anchor="ctr">
            <a:normAutofit/>
          </a:bodyPr>
          <a:lstStyle>
            <a:lvl1pPr marL="0" indent="0" algn="ctr">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89226471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682598" y="1028700"/>
            <a:ext cx="14287530" cy="4375056"/>
          </a:xfrm>
        </p:spPr>
        <p:txBody>
          <a:bodyPr anchor="ctr">
            <a:normAutofit/>
          </a:bodyPr>
          <a:lstStyle>
            <a:lvl1pPr algn="ctr">
              <a:defRPr sz="7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2325396" y="5415048"/>
            <a:ext cx="13001934" cy="566652"/>
          </a:xfrm>
        </p:spPr>
        <p:txBody>
          <a:bodyPr anchor="t">
            <a:normAutofit/>
          </a:bodyPr>
          <a:lstStyle>
            <a:lvl1pPr marL="0" indent="0" algn="r">
              <a:buNone/>
              <a:defRPr sz="2100">
                <a:solidFill>
                  <a:schemeClr val="tx1">
                    <a:lumMod val="50000"/>
                    <a:lumOff val="50000"/>
                  </a:schemeClr>
                </a:solidFill>
              </a:defRPr>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s-ES"/>
              <a:t>Haga clic para modificar los estilos de texto del patrón</a:t>
            </a:r>
          </a:p>
        </p:txBody>
      </p:sp>
      <p:sp>
        <p:nvSpPr>
          <p:cNvPr id="4" name="Text Placeholder 3"/>
          <p:cNvSpPr>
            <a:spLocks noGrp="1"/>
          </p:cNvSpPr>
          <p:nvPr>
            <p:ph type="body" sz="half" idx="2"/>
          </p:nvPr>
        </p:nvSpPr>
        <p:spPr>
          <a:xfrm>
            <a:off x="1028702" y="6159501"/>
            <a:ext cx="15595323" cy="1902378"/>
          </a:xfrm>
        </p:spPr>
        <p:txBody>
          <a:bodyPr anchor="ctr">
            <a:normAutofit/>
          </a:bodyPr>
          <a:lstStyle>
            <a:lvl1pPr marL="0" indent="0" algn="ctr">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
        <p:nvSpPr>
          <p:cNvPr id="13" name="TextBox 12"/>
          <p:cNvSpPr txBox="1"/>
          <p:nvPr/>
        </p:nvSpPr>
        <p:spPr>
          <a:xfrm>
            <a:off x="1028702" y="1338942"/>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tx1"/>
                </a:solidFill>
                <a:effectLst/>
              </a:rPr>
              <a:t>“</a:t>
            </a:r>
          </a:p>
        </p:txBody>
      </p:sp>
      <p:sp>
        <p:nvSpPr>
          <p:cNvPr id="14" name="TextBox 13"/>
          <p:cNvSpPr txBox="1"/>
          <p:nvPr/>
        </p:nvSpPr>
        <p:spPr>
          <a:xfrm>
            <a:off x="15709625" y="4384241"/>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Tree>
    <p:extLst>
      <p:ext uri="{BB962C8B-B14F-4D97-AF65-F5344CB8AC3E}">
        <p14:creationId xmlns:p14="http://schemas.microsoft.com/office/powerpoint/2010/main" val="208421111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028701" y="2585782"/>
            <a:ext cx="15592061" cy="3767753"/>
          </a:xfrm>
        </p:spPr>
        <p:txBody>
          <a:bodyPr anchor="b">
            <a:normAutofit/>
          </a:bodyPr>
          <a:lstStyle>
            <a:lvl1pPr algn="l">
              <a:defRPr sz="7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028701" y="6371202"/>
            <a:ext cx="15592061" cy="1710966"/>
          </a:xfrm>
        </p:spPr>
        <p:txBody>
          <a:bodyPr anchor="t">
            <a:normAutofit/>
          </a:bodyPr>
          <a:lstStyle>
            <a:lvl1pPr marL="0" indent="0" algn="l">
              <a:buNone/>
              <a:defRPr sz="27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52242374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028703" y="1028701"/>
            <a:ext cx="15592059" cy="1727948"/>
          </a:xfrm>
        </p:spPr>
        <p:txBody>
          <a:bodyPr/>
          <a:lstStyle>
            <a:lvl1pPr algn="ctr">
              <a:defRPr/>
            </a:lvl1pPr>
          </a:lstStyle>
          <a:p>
            <a:r>
              <a:rPr lang="es-ES"/>
              <a:t>Haga clic para modificar el estilo de título del patrón</a:t>
            </a:r>
            <a:endParaRPr lang="en-US" dirty="0"/>
          </a:p>
        </p:txBody>
      </p:sp>
      <p:sp>
        <p:nvSpPr>
          <p:cNvPr id="7" name="Text Placeholder 2"/>
          <p:cNvSpPr>
            <a:spLocks noGrp="1"/>
          </p:cNvSpPr>
          <p:nvPr>
            <p:ph type="body" idx="1"/>
          </p:nvPr>
        </p:nvSpPr>
        <p:spPr>
          <a:xfrm>
            <a:off x="1028703" y="3095093"/>
            <a:ext cx="4965192" cy="864393"/>
          </a:xfrm>
        </p:spPr>
        <p:txBody>
          <a:bodyPr anchor="b">
            <a:noAutofit/>
          </a:bodyPr>
          <a:lstStyle>
            <a:lvl1pPr marL="0" indent="0" algn="ctr">
              <a:lnSpc>
                <a:spcPct val="90000"/>
              </a:lnSpc>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s-ES"/>
              <a:t>Haga clic para modificar los estilos de texto del patrón</a:t>
            </a:r>
          </a:p>
        </p:txBody>
      </p:sp>
      <p:sp>
        <p:nvSpPr>
          <p:cNvPr id="8" name="Text Placeholder 3"/>
          <p:cNvSpPr>
            <a:spLocks noGrp="1"/>
          </p:cNvSpPr>
          <p:nvPr>
            <p:ph type="body" sz="half" idx="15"/>
          </p:nvPr>
        </p:nvSpPr>
        <p:spPr>
          <a:xfrm>
            <a:off x="1028703" y="3959487"/>
            <a:ext cx="4965192" cy="4102392"/>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s-ES"/>
              <a:t>Haga clic para modificar los estilos de texto del patrón</a:t>
            </a:r>
          </a:p>
        </p:txBody>
      </p:sp>
      <p:sp>
        <p:nvSpPr>
          <p:cNvPr id="9" name="Text Placeholder 4"/>
          <p:cNvSpPr>
            <a:spLocks noGrp="1"/>
          </p:cNvSpPr>
          <p:nvPr>
            <p:ph type="body" sz="quarter" idx="3"/>
          </p:nvPr>
        </p:nvSpPr>
        <p:spPr>
          <a:xfrm>
            <a:off x="6351933" y="3095093"/>
            <a:ext cx="4965192" cy="864393"/>
          </a:xfrm>
        </p:spPr>
        <p:txBody>
          <a:bodyPr anchor="b">
            <a:noAutofit/>
          </a:bodyPr>
          <a:lstStyle>
            <a:lvl1pPr marL="0" indent="0" algn="ctr">
              <a:lnSpc>
                <a:spcPct val="90000"/>
              </a:lnSpc>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6351932" y="3959487"/>
            <a:ext cx="4965192" cy="4102392"/>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s-ES"/>
              <a:t>Haga clic para modificar los estilos de texto del patrón</a:t>
            </a:r>
          </a:p>
        </p:txBody>
      </p:sp>
      <p:sp>
        <p:nvSpPr>
          <p:cNvPr id="11" name="Text Placeholder 4"/>
          <p:cNvSpPr>
            <a:spLocks noGrp="1"/>
          </p:cNvSpPr>
          <p:nvPr>
            <p:ph type="body" sz="quarter" idx="13"/>
          </p:nvPr>
        </p:nvSpPr>
        <p:spPr>
          <a:xfrm>
            <a:off x="11655570" y="3095093"/>
            <a:ext cx="4965192" cy="864393"/>
          </a:xfrm>
        </p:spPr>
        <p:txBody>
          <a:bodyPr anchor="b">
            <a:noAutofit/>
          </a:bodyPr>
          <a:lstStyle>
            <a:lvl1pPr marL="0" indent="0" algn="ctr">
              <a:lnSpc>
                <a:spcPct val="90000"/>
              </a:lnSpc>
              <a:buNone/>
              <a:defRPr sz="36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11655570" y="3959487"/>
            <a:ext cx="4965192" cy="4102392"/>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67797336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028702" y="1028701"/>
            <a:ext cx="15595323" cy="1727948"/>
          </a:xfrm>
        </p:spPr>
        <p:txBody>
          <a:bodyPr/>
          <a:lstStyle>
            <a:lvl1pPr algn="ctr">
              <a:defRPr/>
            </a:lvl1pPr>
          </a:lstStyle>
          <a:p>
            <a:r>
              <a:rPr lang="es-ES"/>
              <a:t>Haga clic para modificar el estilo de título del patrón</a:t>
            </a:r>
            <a:endParaRPr lang="en-US" dirty="0"/>
          </a:p>
        </p:txBody>
      </p:sp>
      <p:sp>
        <p:nvSpPr>
          <p:cNvPr id="19" name="Text Placeholder 2"/>
          <p:cNvSpPr>
            <a:spLocks noGrp="1"/>
          </p:cNvSpPr>
          <p:nvPr>
            <p:ph type="body" idx="1"/>
          </p:nvPr>
        </p:nvSpPr>
        <p:spPr>
          <a:xfrm>
            <a:off x="1037760" y="5719538"/>
            <a:ext cx="4965192" cy="864393"/>
          </a:xfrm>
        </p:spPr>
        <p:txBody>
          <a:bodyPr anchor="b">
            <a:noAutofit/>
          </a:bodyPr>
          <a:lstStyle>
            <a:lvl1pPr marL="0" indent="0" algn="ctr">
              <a:lnSpc>
                <a:spcPct val="90000"/>
              </a:lnSpc>
              <a:buNone/>
              <a:defRPr sz="33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028670" y="3095093"/>
            <a:ext cx="4965192" cy="2305088"/>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1037760" y="6583931"/>
            <a:ext cx="4965192" cy="1477949"/>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s-ES"/>
              <a:t>Haga clic para modificar los estilos de texto del patrón</a:t>
            </a:r>
          </a:p>
        </p:txBody>
      </p:sp>
      <p:sp>
        <p:nvSpPr>
          <p:cNvPr id="22" name="Text Placeholder 4"/>
          <p:cNvSpPr>
            <a:spLocks noGrp="1"/>
          </p:cNvSpPr>
          <p:nvPr>
            <p:ph type="body" sz="quarter" idx="3"/>
          </p:nvPr>
        </p:nvSpPr>
        <p:spPr>
          <a:xfrm>
            <a:off x="6356115" y="5719538"/>
            <a:ext cx="4965192" cy="864393"/>
          </a:xfrm>
        </p:spPr>
        <p:txBody>
          <a:bodyPr anchor="b">
            <a:noAutofit/>
          </a:bodyPr>
          <a:lstStyle>
            <a:lvl1pPr marL="0" indent="0" algn="ctr">
              <a:lnSpc>
                <a:spcPct val="90000"/>
              </a:lnSpc>
              <a:buNone/>
              <a:defRPr sz="33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6353999" y="3095093"/>
            <a:ext cx="4965192" cy="230285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6353999" y="6583929"/>
            <a:ext cx="4965192" cy="1477950"/>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s-ES"/>
              <a:t>Haga clic para modificar los estilos de texto del patrón</a:t>
            </a:r>
          </a:p>
        </p:txBody>
      </p:sp>
      <p:sp>
        <p:nvSpPr>
          <p:cNvPr id="25" name="Text Placeholder 4"/>
          <p:cNvSpPr>
            <a:spLocks noGrp="1"/>
          </p:cNvSpPr>
          <p:nvPr>
            <p:ph type="body" sz="quarter" idx="13"/>
          </p:nvPr>
        </p:nvSpPr>
        <p:spPr>
          <a:xfrm>
            <a:off x="11653416" y="5719538"/>
            <a:ext cx="4965192" cy="864393"/>
          </a:xfrm>
        </p:spPr>
        <p:txBody>
          <a:bodyPr anchor="b">
            <a:noAutofit/>
          </a:bodyPr>
          <a:lstStyle>
            <a:lvl1pPr marL="0" indent="0" algn="ctr">
              <a:lnSpc>
                <a:spcPct val="90000"/>
              </a:lnSpc>
              <a:buNone/>
              <a:defRPr sz="3300" b="0">
                <a:solidFill>
                  <a:schemeClr val="accent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11653228" y="3095091"/>
            <a:ext cx="4965192" cy="2305794"/>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11653228" y="6583926"/>
            <a:ext cx="4965192" cy="1477953"/>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67967027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s-ES"/>
              <a:t>Haga clic para modificar el estilo de título del patrón</a:t>
            </a:r>
            <a:endParaRPr lang="en-US" dirty="0"/>
          </a:p>
        </p:txBody>
      </p:sp>
      <p:sp>
        <p:nvSpPr>
          <p:cNvPr id="11" name="Vertical Text Placeholder 2"/>
          <p:cNvSpPr>
            <a:spLocks noGrp="1"/>
          </p:cNvSpPr>
          <p:nvPr>
            <p:ph type="body" orient="vert" sz="quarter" idx="13"/>
          </p:nvPr>
        </p:nvSpPr>
        <p:spPr>
          <a:xfrm>
            <a:off x="1028701" y="3095094"/>
            <a:ext cx="15592061" cy="4966785"/>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06725373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223793" y="1028701"/>
            <a:ext cx="3396969" cy="7033178"/>
          </a:xfrm>
        </p:spPr>
        <p:txBody>
          <a:bodyPr vert="eaVert"/>
          <a:lstStyle>
            <a:lvl1pPr algn="l">
              <a:defRPr/>
            </a:lvl1pPr>
          </a:lstStyle>
          <a:p>
            <a:r>
              <a:rPr lang="es-ES"/>
              <a:t>Haga clic para modificar el estilo de título del patrón</a:t>
            </a:r>
            <a:endParaRPr lang="en-US" dirty="0"/>
          </a:p>
        </p:txBody>
      </p:sp>
      <p:sp>
        <p:nvSpPr>
          <p:cNvPr id="8" name="Vertical Text Placeholder 2"/>
          <p:cNvSpPr>
            <a:spLocks noGrp="1"/>
          </p:cNvSpPr>
          <p:nvPr>
            <p:ph type="body" orient="vert" sz="quarter" idx="13"/>
          </p:nvPr>
        </p:nvSpPr>
        <p:spPr>
          <a:xfrm>
            <a:off x="1028701" y="1028701"/>
            <a:ext cx="11856647" cy="7033178"/>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53275415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grpSp>
        <p:nvGrpSpPr>
          <p:cNvPr id="10" name="Group 9"/>
          <p:cNvGrpSpPr/>
          <p:nvPr/>
        </p:nvGrpSpPr>
        <p:grpSpPr>
          <a:xfrm>
            <a:off x="-38096" y="1"/>
            <a:ext cx="18008025" cy="9966122"/>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1028702" y="1028701"/>
            <a:ext cx="15595323" cy="1727948"/>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28701" y="3095095"/>
            <a:ext cx="15595325" cy="4966784"/>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47125" y="8636001"/>
            <a:ext cx="5676900" cy="747705"/>
          </a:xfrm>
          <a:prstGeom prst="rect">
            <a:avLst/>
          </a:prstGeom>
        </p:spPr>
        <p:txBody>
          <a:bodyPr vert="horz" lIns="91440" tIns="45720" rIns="91440" bIns="45720" rtlCol="0" anchor="ctr"/>
          <a:lstStyle>
            <a:lvl1pPr algn="r">
              <a:defRPr sz="4800" cap="all" baseline="0">
                <a:solidFill>
                  <a:schemeClr val="accent1">
                    <a:lumMod val="50000"/>
                  </a:schemeClr>
                </a:solidFill>
              </a:defRPr>
            </a:lvl1pPr>
          </a:lstStyle>
          <a:p>
            <a:fld id="{1D8BD707-D9CF-40AE-B4C6-C98DA3205C09}" type="datetimeFigureOut">
              <a:rPr lang="en-US" smtClean="0"/>
              <a:pPr/>
              <a:t>10/25/2026</a:t>
            </a:fld>
            <a:endParaRPr lang="en-US"/>
          </a:p>
        </p:txBody>
      </p:sp>
      <p:sp>
        <p:nvSpPr>
          <p:cNvPr id="5" name="Footer Placeholder 4"/>
          <p:cNvSpPr>
            <a:spLocks noGrp="1"/>
          </p:cNvSpPr>
          <p:nvPr>
            <p:ph type="ftr" sz="quarter" idx="3"/>
          </p:nvPr>
        </p:nvSpPr>
        <p:spPr>
          <a:xfrm>
            <a:off x="1028702" y="8636001"/>
            <a:ext cx="8249579" cy="747705"/>
          </a:xfrm>
          <a:prstGeom prst="rect">
            <a:avLst/>
          </a:prstGeom>
        </p:spPr>
        <p:txBody>
          <a:bodyPr vert="horz" lIns="91440" tIns="45720" rIns="91440" bIns="45720" rtlCol="0" anchor="ctr"/>
          <a:lstStyle>
            <a:lvl1pPr algn="l">
              <a:defRPr sz="4800" cap="all" baseline="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9430682" y="8636001"/>
            <a:ext cx="1360779" cy="747705"/>
          </a:xfrm>
          <a:prstGeom prst="rect">
            <a:avLst/>
          </a:prstGeom>
        </p:spPr>
        <p:txBody>
          <a:bodyPr vert="horz" lIns="91440" tIns="45720" rIns="91440" bIns="45720" rtlCol="0" anchor="ctr"/>
          <a:lstStyle>
            <a:lvl1pPr algn="ctr">
              <a:defRPr sz="4800" cap="all" baseline="0">
                <a:solidFill>
                  <a:schemeClr val="accent1">
                    <a:lumMod val="50000"/>
                  </a:schemeClr>
                </a:solidFill>
              </a:defRPr>
            </a:lvl1pPr>
          </a:lstStyle>
          <a:p>
            <a:fld id="{B6F15528-21DE-4FAA-801E-634DDDAF4B2B}" type="slidenum">
              <a:rPr lang="en-US" smtClean="0"/>
              <a:pPr/>
              <a:t>‹Nº›</a:t>
            </a:fld>
            <a:endParaRPr lang="en-US"/>
          </a:p>
        </p:txBody>
      </p:sp>
    </p:spTree>
    <p:extLst>
      <p:ext uri="{BB962C8B-B14F-4D97-AF65-F5344CB8AC3E}">
        <p14:creationId xmlns:p14="http://schemas.microsoft.com/office/powerpoint/2010/main" val="11744419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1371600" rtl="0" eaLnBrk="1" latinLnBrk="0" hangingPunct="1">
        <a:lnSpc>
          <a:spcPct val="90000"/>
        </a:lnSpc>
        <a:spcBef>
          <a:spcPct val="0"/>
        </a:spcBef>
        <a:buNone/>
        <a:defRPr sz="8100" kern="1200" cap="all" baseline="0">
          <a:solidFill>
            <a:schemeClr val="accent1"/>
          </a:solidFill>
          <a:effectLst/>
          <a:latin typeface="+mj-lt"/>
          <a:ea typeface="+mj-ea"/>
          <a:cs typeface="+mj-cs"/>
        </a:defRPr>
      </a:lvl1pPr>
    </p:titleStyle>
    <p:bodyStyle>
      <a:lvl1pPr marL="342900" indent="-342900" algn="l" defTabSz="1371600" rtl="0" eaLnBrk="1" latinLnBrk="0" hangingPunct="1">
        <a:lnSpc>
          <a:spcPct val="120000"/>
        </a:lnSpc>
        <a:spcBef>
          <a:spcPts val="1500"/>
        </a:spcBef>
        <a:buClr>
          <a:schemeClr val="accent1"/>
        </a:buClr>
        <a:buSzPct val="160000"/>
        <a:buFont typeface="Arial" panose="020B0604020202020204" pitchFamily="34" charset="0"/>
        <a:buChar char="•"/>
        <a:defRPr sz="3000" kern="1200" cap="all" baseline="0">
          <a:solidFill>
            <a:schemeClr val="tx1"/>
          </a:solidFill>
          <a:effectLst/>
          <a:latin typeface="+mn-lt"/>
          <a:ea typeface="+mn-ea"/>
          <a:cs typeface="+mn-cs"/>
        </a:defRPr>
      </a:lvl1pPr>
      <a:lvl2pPr marL="1028700" indent="-342900" algn="l" defTabSz="1371600" rtl="0" eaLnBrk="1" latinLnBrk="0" hangingPunct="1">
        <a:lnSpc>
          <a:spcPct val="120000"/>
        </a:lnSpc>
        <a:spcBef>
          <a:spcPts val="750"/>
        </a:spcBef>
        <a:buClr>
          <a:schemeClr val="accent1"/>
        </a:buClr>
        <a:buSzPct val="160000"/>
        <a:buFont typeface="Arial" panose="020B0604020202020204" pitchFamily="34" charset="0"/>
        <a:buChar char="•"/>
        <a:defRPr sz="2700" kern="1200" cap="all" baseline="0">
          <a:solidFill>
            <a:schemeClr val="tx1"/>
          </a:solidFill>
          <a:effectLst/>
          <a:latin typeface="+mn-lt"/>
          <a:ea typeface="+mn-ea"/>
          <a:cs typeface="+mn-cs"/>
        </a:defRPr>
      </a:lvl2pPr>
      <a:lvl3pPr marL="1714500" indent="-342900" algn="l" defTabSz="1371600" rtl="0" eaLnBrk="1" latinLnBrk="0" hangingPunct="1">
        <a:lnSpc>
          <a:spcPct val="120000"/>
        </a:lnSpc>
        <a:spcBef>
          <a:spcPts val="750"/>
        </a:spcBef>
        <a:buClr>
          <a:schemeClr val="accent1"/>
        </a:buClr>
        <a:buSzPct val="160000"/>
        <a:buFont typeface="Arial" panose="020B0604020202020204" pitchFamily="34" charset="0"/>
        <a:buChar char="•"/>
        <a:defRPr sz="2400" kern="1200" cap="all" baseline="0">
          <a:solidFill>
            <a:schemeClr val="tx1"/>
          </a:solidFill>
          <a:effectLst/>
          <a:latin typeface="+mn-lt"/>
          <a:ea typeface="+mn-ea"/>
          <a:cs typeface="+mn-cs"/>
        </a:defRPr>
      </a:lvl3pPr>
      <a:lvl4pPr marL="2400300" indent="-342900" algn="l" defTabSz="1371600" rtl="0" eaLnBrk="1" latinLnBrk="0" hangingPunct="1">
        <a:lnSpc>
          <a:spcPct val="120000"/>
        </a:lnSpc>
        <a:spcBef>
          <a:spcPts val="750"/>
        </a:spcBef>
        <a:buClr>
          <a:schemeClr val="accent1"/>
        </a:buClr>
        <a:buSzPct val="160000"/>
        <a:buFont typeface="Arial" panose="020B0604020202020204" pitchFamily="34" charset="0"/>
        <a:buChar char="•"/>
        <a:defRPr sz="2100" kern="1200" cap="all" baseline="0">
          <a:solidFill>
            <a:schemeClr val="tx1"/>
          </a:solidFill>
          <a:effectLst/>
          <a:latin typeface="+mn-lt"/>
          <a:ea typeface="+mn-ea"/>
          <a:cs typeface="+mn-cs"/>
        </a:defRPr>
      </a:lvl4pPr>
      <a:lvl5pPr marL="3086100" indent="-342900" algn="l" defTabSz="1371600" rtl="0" eaLnBrk="1" latinLnBrk="0" hangingPunct="1">
        <a:lnSpc>
          <a:spcPct val="120000"/>
        </a:lnSpc>
        <a:spcBef>
          <a:spcPts val="750"/>
        </a:spcBef>
        <a:buClr>
          <a:schemeClr val="accent1"/>
        </a:buClr>
        <a:buSzPct val="160000"/>
        <a:buFont typeface="Arial" panose="020B0604020202020204" pitchFamily="34" charset="0"/>
        <a:buChar char="•"/>
        <a:defRPr sz="2100" kern="1200" cap="all" baseline="0">
          <a:solidFill>
            <a:schemeClr val="tx1"/>
          </a:solidFill>
          <a:effectLst/>
          <a:latin typeface="+mn-lt"/>
          <a:ea typeface="+mn-ea"/>
          <a:cs typeface="+mn-cs"/>
        </a:defRPr>
      </a:lvl5pPr>
      <a:lvl6pPr marL="3771900" indent="-342900" algn="l" defTabSz="1371600" rtl="0" eaLnBrk="1" latinLnBrk="0" hangingPunct="1">
        <a:lnSpc>
          <a:spcPct val="120000"/>
        </a:lnSpc>
        <a:spcBef>
          <a:spcPts val="750"/>
        </a:spcBef>
        <a:buClr>
          <a:schemeClr val="accent1"/>
        </a:buClr>
        <a:buSzPct val="160000"/>
        <a:buFont typeface="Arial" panose="020B0604020202020204" pitchFamily="34" charset="0"/>
        <a:buChar char="•"/>
        <a:defRPr sz="2100" kern="1200" cap="all" baseline="0">
          <a:solidFill>
            <a:schemeClr val="tx1"/>
          </a:solidFill>
          <a:effectLst/>
          <a:latin typeface="+mn-lt"/>
          <a:ea typeface="+mn-ea"/>
          <a:cs typeface="+mn-cs"/>
        </a:defRPr>
      </a:lvl6pPr>
      <a:lvl7pPr marL="4457700" indent="-342900" algn="l" defTabSz="1371600" rtl="0" eaLnBrk="1" latinLnBrk="0" hangingPunct="1">
        <a:lnSpc>
          <a:spcPct val="120000"/>
        </a:lnSpc>
        <a:spcBef>
          <a:spcPts val="750"/>
        </a:spcBef>
        <a:buClr>
          <a:schemeClr val="accent1"/>
        </a:buClr>
        <a:buSzPct val="160000"/>
        <a:buFont typeface="Arial" panose="020B0604020202020204" pitchFamily="34" charset="0"/>
        <a:buChar char="•"/>
        <a:defRPr sz="2100" kern="1200" cap="all" baseline="0">
          <a:solidFill>
            <a:schemeClr val="tx1"/>
          </a:solidFill>
          <a:effectLst/>
          <a:latin typeface="+mn-lt"/>
          <a:ea typeface="+mn-ea"/>
          <a:cs typeface="+mn-cs"/>
        </a:defRPr>
      </a:lvl7pPr>
      <a:lvl8pPr marL="5143500" indent="-342900" algn="l" defTabSz="1371600" rtl="0" eaLnBrk="1" latinLnBrk="0" hangingPunct="1">
        <a:lnSpc>
          <a:spcPct val="120000"/>
        </a:lnSpc>
        <a:spcBef>
          <a:spcPts val="750"/>
        </a:spcBef>
        <a:buClr>
          <a:schemeClr val="accent1"/>
        </a:buClr>
        <a:buSzPct val="160000"/>
        <a:buFont typeface="Arial" panose="020B0604020202020204" pitchFamily="34" charset="0"/>
        <a:buChar char="•"/>
        <a:defRPr sz="2100" kern="1200" cap="all" baseline="0">
          <a:solidFill>
            <a:schemeClr val="tx1"/>
          </a:solidFill>
          <a:effectLst/>
          <a:latin typeface="+mn-lt"/>
          <a:ea typeface="+mn-ea"/>
          <a:cs typeface="+mn-cs"/>
        </a:defRPr>
      </a:lvl8pPr>
      <a:lvl9pPr marL="5829300" indent="-342900" algn="l" defTabSz="1371600" rtl="0" eaLnBrk="1" latinLnBrk="0" hangingPunct="1">
        <a:lnSpc>
          <a:spcPct val="120000"/>
        </a:lnSpc>
        <a:spcBef>
          <a:spcPts val="750"/>
        </a:spcBef>
        <a:buClr>
          <a:schemeClr val="accent1"/>
        </a:buClr>
        <a:buSzPct val="160000"/>
        <a:buFont typeface="Arial" panose="020B0604020202020204" pitchFamily="34" charset="0"/>
        <a:buChar char="•"/>
        <a:defRPr sz="2100" kern="1200" cap="all" baseline="0">
          <a:solidFill>
            <a:schemeClr val="tx1"/>
          </a:solidFill>
          <a:effectLst/>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7.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0.png"/><Relationship Id="rId7"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4.png"/><Relationship Id="rId5" Type="http://schemas.openxmlformats.org/officeDocument/2006/relationships/image" Target="../media/image12.emf"/><Relationship Id="rId4" Type="http://schemas.openxmlformats.org/officeDocument/2006/relationships/package" Target="../embeddings/Microsoft_Excel_Worksheet.xlsx"/></Relationships>
</file>

<file path=ppt/slides/_rels/slide7.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6.emf"/><Relationship Id="rId5" Type="http://schemas.openxmlformats.org/officeDocument/2006/relationships/package" Target="../embeddings/Microsoft_Excel_Worksheet2.xlsx"/><Relationship Id="rId4" Type="http://schemas.openxmlformats.org/officeDocument/2006/relationships/image" Target="../media/image15.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8.png"/><Relationship Id="rId5" Type="http://schemas.openxmlformats.org/officeDocument/2006/relationships/oleObject" Target="../embeddings/oleObject5.bin"/><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image" Target="../media/image19.emf"/></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image" Target="../media/image20.emf"/></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openxmlformats.org/officeDocument/2006/relationships/slideLayout" Target="../slideLayouts/slideLayout7.xml"/><Relationship Id="rId1" Type="http://schemas.openxmlformats.org/officeDocument/2006/relationships/vmlDrawing" Target="../drawings/vmlDrawing8.vml"/><Relationship Id="rId4" Type="http://schemas.openxmlformats.org/officeDocument/2006/relationships/image" Target="../media/image21.emf"/></Relationships>
</file>

<file path=ppt/slides/_rels/slide12.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openxmlformats.org/officeDocument/2006/relationships/slideLayout" Target="../slideLayouts/slideLayout7.xml"/><Relationship Id="rId1" Type="http://schemas.openxmlformats.org/officeDocument/2006/relationships/vmlDrawing" Target="../drawings/vmlDrawing9.vml"/><Relationship Id="rId4" Type="http://schemas.openxmlformats.org/officeDocument/2006/relationships/image" Target="../media/image22.emf"/></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11"/>
          <p:cNvSpPr/>
          <p:nvPr/>
        </p:nvSpPr>
        <p:spPr>
          <a:xfrm>
            <a:off x="3011342" y="5124450"/>
            <a:ext cx="8918179" cy="19050"/>
          </a:xfrm>
          <a:prstGeom prst="line">
            <a:avLst/>
          </a:prstGeom>
          <a:ln w="47625" cap="flat">
            <a:solidFill>
              <a:srgbClr val="000000"/>
            </a:solidFill>
            <a:prstDash val="sysDash"/>
            <a:headEnd type="none" w="sm" len="sm"/>
            <a:tailEnd type="none" w="sm" len="sm"/>
          </a:ln>
        </p:spPr>
      </p:sp>
      <p:sp>
        <p:nvSpPr>
          <p:cNvPr id="15" name="TextBox 15"/>
          <p:cNvSpPr txBox="1"/>
          <p:nvPr/>
        </p:nvSpPr>
        <p:spPr>
          <a:xfrm>
            <a:off x="2924980" y="2552700"/>
            <a:ext cx="10837843" cy="2743510"/>
          </a:xfrm>
          <a:prstGeom prst="rect">
            <a:avLst/>
          </a:prstGeom>
        </p:spPr>
        <p:txBody>
          <a:bodyPr lIns="0" tIns="0" rIns="0" bIns="0" rtlCol="0" anchor="t">
            <a:spAutoFit/>
          </a:bodyPr>
          <a:lstStyle/>
          <a:p>
            <a:pPr algn="l">
              <a:lnSpc>
                <a:spcPts val="10509"/>
              </a:lnSpc>
            </a:pPr>
            <a:r>
              <a:rPr lang="en-US" sz="10947" b="1" dirty="0">
                <a:solidFill>
                  <a:srgbClr val="000000"/>
                </a:solidFill>
                <a:latin typeface="Canva Sans Bold"/>
                <a:ea typeface="Canva Sans Bold"/>
                <a:cs typeface="Canva Sans Bold"/>
                <a:sym typeface="Canva Sans Bold"/>
              </a:rPr>
              <a:t>ANÁLISIS </a:t>
            </a:r>
            <a:r>
              <a:rPr lang="en-US" sz="10947" b="1" dirty="0">
                <a:solidFill>
                  <a:srgbClr val="8D0000"/>
                </a:solidFill>
                <a:latin typeface="Canva Sans Bold"/>
                <a:ea typeface="Canva Sans Bold"/>
                <a:cs typeface="Canva Sans Bold"/>
                <a:sym typeface="Canva Sans Bold"/>
              </a:rPr>
              <a:t>ESTADÍSTICO</a:t>
            </a:r>
          </a:p>
        </p:txBody>
      </p:sp>
      <p:sp>
        <p:nvSpPr>
          <p:cNvPr id="16" name="TextBox 16"/>
          <p:cNvSpPr txBox="1"/>
          <p:nvPr/>
        </p:nvSpPr>
        <p:spPr>
          <a:xfrm>
            <a:off x="3201986" y="5600700"/>
            <a:ext cx="8497117" cy="1912620"/>
          </a:xfrm>
          <a:prstGeom prst="rect">
            <a:avLst/>
          </a:prstGeom>
        </p:spPr>
        <p:txBody>
          <a:bodyPr lIns="0" tIns="0" rIns="0" bIns="0" rtlCol="0" anchor="t">
            <a:spAutoFit/>
          </a:bodyPr>
          <a:lstStyle/>
          <a:p>
            <a:pPr algn="l">
              <a:lnSpc>
                <a:spcPts val="3779"/>
              </a:lnSpc>
            </a:pPr>
            <a:r>
              <a:rPr lang="en-US" sz="2699" spc="134" dirty="0" err="1">
                <a:solidFill>
                  <a:srgbClr val="2E2E2E"/>
                </a:solidFill>
                <a:latin typeface="Poppins"/>
                <a:ea typeface="Poppins"/>
                <a:cs typeface="Poppins"/>
                <a:sym typeface="Poppins"/>
              </a:rPr>
              <a:t>Equipo</a:t>
            </a:r>
            <a:r>
              <a:rPr lang="en-US" sz="2699" spc="134" dirty="0">
                <a:solidFill>
                  <a:srgbClr val="2E2E2E"/>
                </a:solidFill>
                <a:latin typeface="Poppins"/>
                <a:ea typeface="Poppins"/>
                <a:cs typeface="Poppins"/>
                <a:sym typeface="Poppins"/>
              </a:rPr>
              <a:t> de </a:t>
            </a:r>
            <a:r>
              <a:rPr lang="en-US" sz="2699" spc="134" dirty="0" err="1">
                <a:solidFill>
                  <a:srgbClr val="2E2E2E"/>
                </a:solidFill>
                <a:latin typeface="Poppins"/>
                <a:ea typeface="Poppins"/>
                <a:cs typeface="Poppins"/>
                <a:sym typeface="Poppins"/>
              </a:rPr>
              <a:t>Analítica</a:t>
            </a:r>
            <a:r>
              <a:rPr lang="en-US" sz="2699" spc="134" dirty="0">
                <a:solidFill>
                  <a:srgbClr val="2E2E2E"/>
                </a:solidFill>
                <a:latin typeface="Poppins"/>
                <a:ea typeface="Poppins"/>
                <a:cs typeface="Poppins"/>
                <a:sym typeface="Poppins"/>
              </a:rPr>
              <a:t>:</a:t>
            </a:r>
          </a:p>
          <a:p>
            <a:pPr algn="l">
              <a:lnSpc>
                <a:spcPts val="3779"/>
              </a:lnSpc>
            </a:pPr>
            <a:r>
              <a:rPr lang="en-US" sz="2699" spc="134" dirty="0">
                <a:solidFill>
                  <a:srgbClr val="2E2E2E"/>
                </a:solidFill>
                <a:latin typeface="Poppins"/>
                <a:ea typeface="Poppins"/>
                <a:cs typeface="Poppins"/>
                <a:sym typeface="Poppins"/>
              </a:rPr>
              <a:t>                                     Geizi Icaza</a:t>
            </a:r>
          </a:p>
          <a:p>
            <a:pPr algn="l">
              <a:lnSpc>
                <a:spcPts val="3779"/>
              </a:lnSpc>
            </a:pPr>
            <a:r>
              <a:rPr lang="en-US" sz="2699" spc="134" dirty="0">
                <a:solidFill>
                  <a:srgbClr val="2E2E2E"/>
                </a:solidFill>
                <a:latin typeface="Poppins"/>
                <a:ea typeface="Poppins"/>
                <a:cs typeface="Poppins"/>
                <a:sym typeface="Poppins"/>
              </a:rPr>
              <a:t>                                     Amos Ríos</a:t>
            </a:r>
          </a:p>
          <a:p>
            <a:pPr algn="l">
              <a:lnSpc>
                <a:spcPts val="3779"/>
              </a:lnSpc>
            </a:pPr>
            <a:r>
              <a:rPr lang="en-US" sz="2699" spc="134" dirty="0">
                <a:solidFill>
                  <a:srgbClr val="2E2E2E"/>
                </a:solidFill>
                <a:latin typeface="Poppins"/>
                <a:ea typeface="Poppins"/>
                <a:cs typeface="Poppins"/>
                <a:sym typeface="Poppins"/>
              </a:rPr>
              <a:t>                                     Joel Santana</a:t>
            </a:r>
          </a:p>
        </p:txBody>
      </p:sp>
      <p:grpSp>
        <p:nvGrpSpPr>
          <p:cNvPr id="17" name="Group 17"/>
          <p:cNvGrpSpPr/>
          <p:nvPr/>
        </p:nvGrpSpPr>
        <p:grpSpPr>
          <a:xfrm>
            <a:off x="2924980" y="957866"/>
            <a:ext cx="10533859" cy="909034"/>
            <a:chOff x="0" y="0"/>
            <a:chExt cx="14045146" cy="1212045"/>
          </a:xfrm>
        </p:grpSpPr>
        <p:grpSp>
          <p:nvGrpSpPr>
            <p:cNvPr id="18" name="Group 18"/>
            <p:cNvGrpSpPr/>
            <p:nvPr/>
          </p:nvGrpSpPr>
          <p:grpSpPr>
            <a:xfrm rot="-2789597">
              <a:off x="130532" y="182897"/>
              <a:ext cx="808067" cy="707058"/>
              <a:chOff x="0" y="0"/>
              <a:chExt cx="812800" cy="711200"/>
            </a:xfrm>
          </p:grpSpPr>
          <p:sp>
            <p:nvSpPr>
              <p:cNvPr id="19" name="Freeform 1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8D0000"/>
              </a:solidFill>
            </p:spPr>
          </p:sp>
          <p:sp>
            <p:nvSpPr>
              <p:cNvPr id="20" name="TextBox 20"/>
              <p:cNvSpPr txBox="1"/>
              <p:nvPr/>
            </p:nvSpPr>
            <p:spPr>
              <a:xfrm>
                <a:off x="127000" y="-3175"/>
                <a:ext cx="558800" cy="663575"/>
              </a:xfrm>
              <a:prstGeom prst="rect">
                <a:avLst/>
              </a:prstGeom>
            </p:spPr>
            <p:txBody>
              <a:bodyPr lIns="50800" tIns="50800" rIns="50800" bIns="50800" rtlCol="0" anchor="ctr"/>
              <a:lstStyle/>
              <a:p>
                <a:pPr algn="ctr">
                  <a:lnSpc>
                    <a:spcPts val="6249"/>
                  </a:lnSpc>
                </a:pPr>
                <a:endParaRPr/>
              </a:p>
            </p:txBody>
          </p:sp>
        </p:grpSp>
        <p:sp>
          <p:nvSpPr>
            <p:cNvPr id="21" name="TextBox 21"/>
            <p:cNvSpPr txBox="1"/>
            <p:nvPr/>
          </p:nvSpPr>
          <p:spPr>
            <a:xfrm>
              <a:off x="1345858" y="952710"/>
              <a:ext cx="12699288" cy="259335"/>
            </a:xfrm>
            <a:prstGeom prst="rect">
              <a:avLst/>
            </a:prstGeom>
          </p:spPr>
          <p:txBody>
            <a:bodyPr lIns="0" tIns="0" rIns="0" bIns="0" rtlCol="0" anchor="t">
              <a:spAutoFit/>
            </a:bodyPr>
            <a:lstStyle/>
            <a:p>
              <a:pPr algn="l">
                <a:lnSpc>
                  <a:spcPts val="1386"/>
                </a:lnSpc>
              </a:pPr>
              <a:r>
                <a:rPr lang="en-US" sz="1400" spc="285">
                  <a:solidFill>
                    <a:srgbClr val="8D0000"/>
                  </a:solidFill>
                  <a:latin typeface="The Seasons"/>
                  <a:ea typeface="The Seasons"/>
                  <a:cs typeface="The Seasons"/>
                  <a:sym typeface="The Seasons"/>
                </a:rPr>
                <a:t>MÁS ALLÁ DE LA EFICIENCIA OPERATIVA</a:t>
              </a:r>
            </a:p>
          </p:txBody>
        </p:sp>
        <p:sp>
          <p:nvSpPr>
            <p:cNvPr id="22" name="TextBox 22"/>
            <p:cNvSpPr txBox="1"/>
            <p:nvPr/>
          </p:nvSpPr>
          <p:spPr>
            <a:xfrm>
              <a:off x="1345858" y="174987"/>
              <a:ext cx="5962309" cy="789729"/>
            </a:xfrm>
            <a:prstGeom prst="rect">
              <a:avLst/>
            </a:prstGeom>
          </p:spPr>
          <p:txBody>
            <a:bodyPr lIns="0" tIns="0" rIns="0" bIns="0" rtlCol="0" anchor="t">
              <a:spAutoFit/>
            </a:bodyPr>
            <a:lstStyle/>
            <a:p>
              <a:pPr algn="l">
                <a:lnSpc>
                  <a:spcPts val="4759"/>
                </a:lnSpc>
              </a:pPr>
              <a:r>
                <a:rPr lang="en-US" sz="3399" b="1" i="1" dirty="0">
                  <a:solidFill>
                    <a:srgbClr val="000000"/>
                  </a:solidFill>
                  <a:latin typeface="Poppins Bold Italics"/>
                  <a:ea typeface="Poppins Bold Italics"/>
                  <a:cs typeface="Poppins Bold Italics"/>
                  <a:sym typeface="Poppins Bold Italics"/>
                </a:rPr>
                <a:t>DATATECH</a:t>
              </a:r>
            </a:p>
          </p:txBody>
        </p:sp>
        <p:grpSp>
          <p:nvGrpSpPr>
            <p:cNvPr id="23" name="Group 23"/>
            <p:cNvGrpSpPr/>
            <p:nvPr/>
          </p:nvGrpSpPr>
          <p:grpSpPr>
            <a:xfrm rot="-2789597">
              <a:off x="462206" y="488543"/>
              <a:ext cx="574887" cy="503026"/>
              <a:chOff x="0" y="0"/>
              <a:chExt cx="812800" cy="711200"/>
            </a:xfrm>
          </p:grpSpPr>
          <p:sp>
            <p:nvSpPr>
              <p:cNvPr id="24" name="Freeform 24"/>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C27F7F"/>
              </a:solidFill>
            </p:spPr>
          </p:sp>
          <p:sp>
            <p:nvSpPr>
              <p:cNvPr id="25" name="TextBox 25"/>
              <p:cNvSpPr txBox="1"/>
              <p:nvPr/>
            </p:nvSpPr>
            <p:spPr>
              <a:xfrm>
                <a:off x="127000" y="-3175"/>
                <a:ext cx="558800" cy="663575"/>
              </a:xfrm>
              <a:prstGeom prst="rect">
                <a:avLst/>
              </a:prstGeom>
            </p:spPr>
            <p:txBody>
              <a:bodyPr lIns="50800" tIns="50800" rIns="50800" bIns="50800" rtlCol="0" anchor="ctr"/>
              <a:lstStyle/>
              <a:p>
                <a:pPr algn="ctr">
                  <a:lnSpc>
                    <a:spcPts val="6249"/>
                  </a:lnSpc>
                </a:pPr>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362548" y="716643"/>
            <a:ext cx="6894084" cy="636281"/>
          </a:xfrm>
          <a:prstGeom prst="rect">
            <a:avLst/>
          </a:prstGeom>
        </p:spPr>
        <p:txBody>
          <a:bodyPr lIns="0" tIns="0" rIns="0" bIns="0" rtlCol="0" anchor="t">
            <a:spAutoFit/>
          </a:bodyPr>
          <a:lstStyle/>
          <a:p>
            <a:pPr algn="ctr">
              <a:lnSpc>
                <a:spcPts val="4800"/>
              </a:lnSpc>
            </a:pPr>
            <a:r>
              <a:rPr lang="en-US" sz="4800" b="1" dirty="0">
                <a:solidFill>
                  <a:srgbClr val="8D0000"/>
                </a:solidFill>
                <a:latin typeface="Canva Sans Bold"/>
                <a:ea typeface="Canva Sans Bold"/>
                <a:cs typeface="Canva Sans Bold"/>
                <a:sym typeface="Canva Sans Bold"/>
              </a:rPr>
              <a:t>INTRODUCCIÓN</a:t>
            </a:r>
          </a:p>
        </p:txBody>
      </p:sp>
      <p:sp>
        <p:nvSpPr>
          <p:cNvPr id="3" name="TextBox 3"/>
          <p:cNvSpPr txBox="1"/>
          <p:nvPr/>
        </p:nvSpPr>
        <p:spPr>
          <a:xfrm>
            <a:off x="4822754" y="3644814"/>
            <a:ext cx="8918240" cy="693420"/>
          </a:xfrm>
          <a:prstGeom prst="rect">
            <a:avLst/>
          </a:prstGeom>
        </p:spPr>
        <p:txBody>
          <a:bodyPr lIns="0" tIns="0" rIns="0" bIns="0" rtlCol="0" anchor="t">
            <a:spAutoFit/>
          </a:bodyPr>
          <a:lstStyle/>
          <a:p>
            <a:pPr algn="ctr">
              <a:lnSpc>
                <a:spcPts val="4800"/>
              </a:lnSpc>
            </a:pPr>
            <a:r>
              <a:rPr lang="en-US" sz="4800" b="1" spc="921" dirty="0">
                <a:solidFill>
                  <a:srgbClr val="8D0000"/>
                </a:solidFill>
                <a:latin typeface="Poppins Bold"/>
                <a:ea typeface="Poppins Bold"/>
                <a:cs typeface="Poppins Bold"/>
                <a:sym typeface="Poppins Bold"/>
              </a:rPr>
              <a:t>OBJETIVO</a:t>
            </a:r>
          </a:p>
        </p:txBody>
      </p:sp>
      <p:sp>
        <p:nvSpPr>
          <p:cNvPr id="10" name="TextBox 10"/>
          <p:cNvSpPr txBox="1"/>
          <p:nvPr/>
        </p:nvSpPr>
        <p:spPr>
          <a:xfrm>
            <a:off x="1017814" y="1567846"/>
            <a:ext cx="16230600" cy="2062681"/>
          </a:xfrm>
          <a:prstGeom prst="rect">
            <a:avLst/>
          </a:prstGeom>
        </p:spPr>
        <p:txBody>
          <a:bodyPr lIns="0" tIns="0" rIns="0" bIns="0" rtlCol="0" anchor="t">
            <a:spAutoFit/>
          </a:bodyPr>
          <a:lstStyle/>
          <a:p>
            <a:pPr algn="just">
              <a:lnSpc>
                <a:spcPts val="2699"/>
              </a:lnSpc>
            </a:pPr>
            <a:r>
              <a:rPr lang="es-PA" sz="1999" spc="61" dirty="0">
                <a:solidFill>
                  <a:srgbClr val="2B2B2B"/>
                </a:solidFill>
                <a:latin typeface="Poppins"/>
                <a:ea typeface="Poppins"/>
                <a:cs typeface="Poppins"/>
                <a:sym typeface="Poppins"/>
              </a:rPr>
              <a:t>El presente análisis estadístico tiene como objetivo evaluar el desempeño operativo de DATATECH mediante el estudio de 400 registros históricos de procesamiento de datos. A través de herramientas estadísticas descriptivas, probabilísticas y modelos de regresión, se busca identificar los factores que influyen en el tiempo de procesamiento, evaluar el cumplimiento de los estándares establecidos y generar información que permita mejorar la eficiencia operativa y la toma de decisiones.</a:t>
            </a:r>
          </a:p>
          <a:p>
            <a:pPr marL="0" lvl="0" indent="0" algn="just">
              <a:lnSpc>
                <a:spcPts val="2699"/>
              </a:lnSpc>
              <a:spcBef>
                <a:spcPct val="0"/>
              </a:spcBef>
            </a:pPr>
            <a:endParaRPr lang="es-PA" sz="1999" spc="61" dirty="0">
              <a:solidFill>
                <a:srgbClr val="2B2B2B"/>
              </a:solidFill>
              <a:latin typeface="Poppins"/>
              <a:ea typeface="Poppins"/>
              <a:cs typeface="Poppins"/>
              <a:sym typeface="Poppins"/>
            </a:endParaRPr>
          </a:p>
        </p:txBody>
      </p:sp>
      <p:sp>
        <p:nvSpPr>
          <p:cNvPr id="11" name="AutoShape 11"/>
          <p:cNvSpPr/>
          <p:nvPr/>
        </p:nvSpPr>
        <p:spPr>
          <a:xfrm>
            <a:off x="4684910" y="4290949"/>
            <a:ext cx="8918179" cy="19050"/>
          </a:xfrm>
          <a:prstGeom prst="line">
            <a:avLst/>
          </a:prstGeom>
          <a:ln w="28575" cap="flat">
            <a:solidFill>
              <a:srgbClr val="000000"/>
            </a:solidFill>
            <a:prstDash val="solid"/>
            <a:headEnd type="none" w="sm" len="sm"/>
            <a:tailEnd type="none" w="sm" len="sm"/>
          </a:ln>
        </p:spPr>
      </p:sp>
      <p:sp>
        <p:nvSpPr>
          <p:cNvPr id="12" name="TextBox 12"/>
          <p:cNvSpPr txBox="1"/>
          <p:nvPr/>
        </p:nvSpPr>
        <p:spPr>
          <a:xfrm>
            <a:off x="1365561" y="5520523"/>
            <a:ext cx="14888055" cy="636270"/>
          </a:xfrm>
          <a:prstGeom prst="rect">
            <a:avLst/>
          </a:prstGeom>
        </p:spPr>
        <p:txBody>
          <a:bodyPr lIns="0" tIns="0" rIns="0" bIns="0" rtlCol="0" anchor="t">
            <a:spAutoFit/>
          </a:bodyPr>
          <a:lstStyle/>
          <a:p>
            <a:pPr algn="ctr">
              <a:lnSpc>
                <a:spcPts val="4800"/>
              </a:lnSpc>
            </a:pPr>
            <a:r>
              <a:rPr lang="en-US" sz="4800" b="1" dirty="0">
                <a:solidFill>
                  <a:srgbClr val="8D0000"/>
                </a:solidFill>
                <a:latin typeface="Canva Sans Bold"/>
                <a:ea typeface="Canva Sans Bold"/>
                <a:cs typeface="Canva Sans Bold"/>
                <a:sym typeface="Canva Sans Bold"/>
              </a:rPr>
              <a:t>PLANTEAMIENTO DEL PROBLEMA</a:t>
            </a:r>
          </a:p>
        </p:txBody>
      </p:sp>
      <p:sp>
        <p:nvSpPr>
          <p:cNvPr id="13" name="AutoShape 13"/>
          <p:cNvSpPr/>
          <p:nvPr/>
        </p:nvSpPr>
        <p:spPr>
          <a:xfrm>
            <a:off x="4350500" y="1330155"/>
            <a:ext cx="8918179" cy="19050"/>
          </a:xfrm>
          <a:prstGeom prst="line">
            <a:avLst/>
          </a:prstGeom>
          <a:ln w="28575" cap="flat">
            <a:solidFill>
              <a:srgbClr val="000000"/>
            </a:solidFill>
            <a:prstDash val="solid"/>
            <a:headEnd type="none" w="sm" len="sm"/>
            <a:tailEnd type="none" w="sm" len="sm"/>
          </a:ln>
        </p:spPr>
      </p:sp>
      <p:sp>
        <p:nvSpPr>
          <p:cNvPr id="14" name="AutoShape 14"/>
          <p:cNvSpPr/>
          <p:nvPr/>
        </p:nvSpPr>
        <p:spPr>
          <a:xfrm>
            <a:off x="4350500" y="6137743"/>
            <a:ext cx="8918179" cy="19050"/>
          </a:xfrm>
          <a:prstGeom prst="line">
            <a:avLst/>
          </a:prstGeom>
          <a:ln w="28575" cap="flat">
            <a:solidFill>
              <a:srgbClr val="000000"/>
            </a:solidFill>
            <a:prstDash val="solid"/>
            <a:headEnd type="none" w="sm" len="sm"/>
            <a:tailEnd type="none" w="sm" len="sm"/>
          </a:ln>
        </p:spPr>
      </p:sp>
      <p:sp>
        <p:nvSpPr>
          <p:cNvPr id="15" name="TextBox 15"/>
          <p:cNvSpPr txBox="1"/>
          <p:nvPr/>
        </p:nvSpPr>
        <p:spPr>
          <a:xfrm>
            <a:off x="990600" y="6156793"/>
            <a:ext cx="16230600" cy="1716432"/>
          </a:xfrm>
          <a:prstGeom prst="rect">
            <a:avLst/>
          </a:prstGeom>
        </p:spPr>
        <p:txBody>
          <a:bodyPr lIns="0" tIns="0" rIns="0" bIns="0" rtlCol="0" anchor="t">
            <a:spAutoFit/>
          </a:bodyPr>
          <a:lstStyle/>
          <a:p>
            <a:pPr algn="just">
              <a:lnSpc>
                <a:spcPts val="2699"/>
              </a:lnSpc>
            </a:pPr>
            <a:r>
              <a:rPr lang="es-PA" sz="1999" spc="61" dirty="0">
                <a:solidFill>
                  <a:srgbClr val="2B2B2B"/>
                </a:solidFill>
                <a:latin typeface="Poppins"/>
                <a:ea typeface="Poppins"/>
                <a:cs typeface="Poppins"/>
                <a:sym typeface="Poppins"/>
              </a:rPr>
              <a:t>El crecimiento del volumen de datos en DATATECH ha generado demoras en los procesos de procesamiento, afectando el cumplimiento de los SLA. La empresa requiere un análisis estadístico para identificar los factores que influyen en el desempeño operativo. Además, busca desarrollar modelos predictivos que permitan mejorar la planificación y la toma de decisiones.</a:t>
            </a:r>
          </a:p>
          <a:p>
            <a:pPr marL="0" lvl="0" indent="0" algn="just">
              <a:lnSpc>
                <a:spcPts val="2699"/>
              </a:lnSpc>
              <a:spcBef>
                <a:spcPct val="0"/>
              </a:spcBef>
            </a:pPr>
            <a:endParaRPr lang="es-PA" sz="1999" spc="61" dirty="0">
              <a:solidFill>
                <a:srgbClr val="2B2B2B"/>
              </a:solidFill>
              <a:latin typeface="Poppins"/>
              <a:ea typeface="Poppins"/>
              <a:cs typeface="Poppins"/>
              <a:sym typeface="Poppins"/>
            </a:endParaRPr>
          </a:p>
        </p:txBody>
      </p:sp>
      <p:sp>
        <p:nvSpPr>
          <p:cNvPr id="16" name="TextBox 16"/>
          <p:cNvSpPr txBox="1"/>
          <p:nvPr/>
        </p:nvSpPr>
        <p:spPr>
          <a:xfrm>
            <a:off x="990600" y="4419537"/>
            <a:ext cx="16230600" cy="676275"/>
          </a:xfrm>
          <a:prstGeom prst="rect">
            <a:avLst/>
          </a:prstGeom>
        </p:spPr>
        <p:txBody>
          <a:bodyPr lIns="0" tIns="0" rIns="0" bIns="0" rtlCol="0" anchor="t">
            <a:spAutoFit/>
          </a:bodyPr>
          <a:lstStyle/>
          <a:p>
            <a:pPr marL="0" lvl="0" indent="0" algn="just">
              <a:lnSpc>
                <a:spcPts val="2699"/>
              </a:lnSpc>
              <a:spcBef>
                <a:spcPct val="0"/>
              </a:spcBef>
            </a:pPr>
            <a:r>
              <a:rPr lang="es-PA" sz="1999" spc="61" dirty="0">
                <a:solidFill>
                  <a:srgbClr val="2B2B2B"/>
                </a:solidFill>
                <a:latin typeface="Poppins"/>
                <a:ea typeface="Poppins"/>
                <a:cs typeface="Poppins"/>
                <a:sym typeface="Poppins"/>
              </a:rPr>
              <a:t>Realizar un diagnóstico estadístico del desempeño operativo de DATATECH para identificar factores que afectan el tiempo de procesamiento y proponer mejoras</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7"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161760" y="493116"/>
            <a:ext cx="4777937" cy="1109988"/>
          </a:xfrm>
          <a:prstGeom prst="rect">
            <a:avLst/>
          </a:prstGeom>
        </p:spPr>
        <p:txBody>
          <a:bodyPr lIns="0" tIns="0" rIns="0" bIns="0" rtlCol="0" anchor="t">
            <a:spAutoFit/>
          </a:bodyPr>
          <a:lstStyle/>
          <a:p>
            <a:pPr algn="ctr">
              <a:lnSpc>
                <a:spcPts val="7700"/>
              </a:lnSpc>
            </a:pPr>
            <a:r>
              <a:rPr lang="en-US" sz="7700" b="1" spc="1478" dirty="0">
                <a:solidFill>
                  <a:srgbClr val="8D0000"/>
                </a:solidFill>
                <a:latin typeface="Poppins Bold"/>
                <a:ea typeface="Poppins Bold"/>
                <a:cs typeface="Poppins Bold"/>
                <a:sym typeface="Poppins Bold"/>
              </a:rPr>
              <a:t>DATOS</a:t>
            </a:r>
          </a:p>
        </p:txBody>
      </p:sp>
      <p:sp>
        <p:nvSpPr>
          <p:cNvPr id="9" name="AutoShape 9"/>
          <p:cNvSpPr/>
          <p:nvPr/>
        </p:nvSpPr>
        <p:spPr>
          <a:xfrm>
            <a:off x="8072756" y="587595"/>
            <a:ext cx="0" cy="9111809"/>
          </a:xfrm>
          <a:prstGeom prst="line">
            <a:avLst/>
          </a:prstGeom>
          <a:ln w="28575" cap="flat">
            <a:solidFill>
              <a:srgbClr val="000000"/>
            </a:solidFill>
            <a:prstDash val="solid"/>
            <a:headEnd type="none" w="sm" len="sm"/>
            <a:tailEnd type="none" w="sm" len="sm"/>
          </a:ln>
        </p:spPr>
      </p:sp>
      <p:sp>
        <p:nvSpPr>
          <p:cNvPr id="10" name="TextBox 10"/>
          <p:cNvSpPr txBox="1"/>
          <p:nvPr/>
        </p:nvSpPr>
        <p:spPr>
          <a:xfrm>
            <a:off x="407961" y="1181100"/>
            <a:ext cx="7682825" cy="6109970"/>
          </a:xfrm>
          <a:prstGeom prst="rect">
            <a:avLst/>
          </a:prstGeom>
        </p:spPr>
        <p:txBody>
          <a:bodyPr lIns="0" tIns="0" rIns="0" bIns="0" rtlCol="0" anchor="t">
            <a:spAutoFit/>
          </a:bodyPr>
          <a:lstStyle/>
          <a:p>
            <a:pPr marL="604519" lvl="1" indent="-302260" algn="l">
              <a:lnSpc>
                <a:spcPts val="6999"/>
              </a:lnSpc>
              <a:buFont typeface="Arial"/>
              <a:buChar char="•"/>
            </a:pPr>
            <a:r>
              <a:rPr lang="es-PA" sz="2799">
                <a:solidFill>
                  <a:srgbClr val="2E2E2E"/>
                </a:solidFill>
                <a:latin typeface="Poppins"/>
                <a:ea typeface="Poppins"/>
                <a:cs typeface="Poppins"/>
                <a:sym typeface="Poppins"/>
              </a:rPr>
              <a:t>Fecha</a:t>
            </a:r>
          </a:p>
          <a:p>
            <a:pPr marL="604519" lvl="1" indent="-302260" algn="l">
              <a:lnSpc>
                <a:spcPts val="6999"/>
              </a:lnSpc>
              <a:buFont typeface="Arial"/>
              <a:buChar char="•"/>
            </a:pPr>
            <a:r>
              <a:rPr lang="es-PA" sz="2799">
                <a:solidFill>
                  <a:srgbClr val="2E2E2E"/>
                </a:solidFill>
                <a:latin typeface="Poppins"/>
                <a:ea typeface="Poppins"/>
                <a:cs typeface="Poppins"/>
                <a:sym typeface="Poppins"/>
              </a:rPr>
              <a:t>Tipo de datos</a:t>
            </a:r>
          </a:p>
          <a:p>
            <a:pPr marL="604519" lvl="1" indent="-302260" algn="l">
              <a:lnSpc>
                <a:spcPts val="6999"/>
              </a:lnSpc>
              <a:buFont typeface="Arial"/>
              <a:buChar char="•"/>
            </a:pPr>
            <a:r>
              <a:rPr lang="es-PA" sz="2799">
                <a:solidFill>
                  <a:srgbClr val="2E2E2E"/>
                </a:solidFill>
                <a:latin typeface="Poppins"/>
                <a:ea typeface="Poppins"/>
                <a:cs typeface="Poppins"/>
                <a:sym typeface="Poppins"/>
              </a:rPr>
              <a:t>Tamaño de BD(GB)</a:t>
            </a:r>
          </a:p>
          <a:p>
            <a:pPr marL="604519" lvl="1" indent="-302260" algn="l">
              <a:lnSpc>
                <a:spcPts val="6999"/>
              </a:lnSpc>
              <a:buFont typeface="Arial"/>
              <a:buChar char="•"/>
            </a:pPr>
            <a:r>
              <a:rPr lang="es-PA" sz="2799">
                <a:solidFill>
                  <a:srgbClr val="2E2E2E"/>
                </a:solidFill>
                <a:latin typeface="Poppins"/>
                <a:ea typeface="Poppins"/>
                <a:cs typeface="Poppins"/>
                <a:sym typeface="Poppins"/>
              </a:rPr>
              <a:t>Tiempo de Procesamiento (Horas)</a:t>
            </a:r>
          </a:p>
          <a:p>
            <a:pPr marL="604519" lvl="1" indent="-302260" algn="l">
              <a:lnSpc>
                <a:spcPts val="6999"/>
              </a:lnSpc>
              <a:buFont typeface="Arial"/>
              <a:buChar char="•"/>
            </a:pPr>
            <a:r>
              <a:rPr lang="es-PA" sz="2799">
                <a:solidFill>
                  <a:srgbClr val="2E2E2E"/>
                </a:solidFill>
                <a:latin typeface="Poppins"/>
                <a:ea typeface="Poppins"/>
                <a:cs typeface="Poppins"/>
                <a:sym typeface="Poppins"/>
              </a:rPr>
              <a:t>Calidad de Datos</a:t>
            </a:r>
          </a:p>
          <a:p>
            <a:pPr marL="604519" lvl="1" indent="-302260" algn="l">
              <a:lnSpc>
                <a:spcPts val="6999"/>
              </a:lnSpc>
              <a:buFont typeface="Arial"/>
              <a:buChar char="•"/>
            </a:pPr>
            <a:r>
              <a:rPr lang="es-PA" sz="2799">
                <a:solidFill>
                  <a:srgbClr val="2E2E2E"/>
                </a:solidFill>
                <a:latin typeface="Poppins"/>
                <a:ea typeface="Poppins"/>
                <a:cs typeface="Poppins"/>
                <a:sym typeface="Poppins"/>
              </a:rPr>
              <a:t>Experiencia del Equipo (Años)</a:t>
            </a:r>
          </a:p>
          <a:p>
            <a:pPr marL="604519" lvl="1" indent="-302260" algn="l">
              <a:lnSpc>
                <a:spcPts val="6999"/>
              </a:lnSpc>
              <a:buFont typeface="Arial"/>
              <a:buChar char="•"/>
            </a:pPr>
            <a:r>
              <a:rPr lang="es-PA" sz="2799">
                <a:solidFill>
                  <a:srgbClr val="2E2E2E"/>
                </a:solidFill>
                <a:latin typeface="Poppins"/>
                <a:ea typeface="Poppins"/>
                <a:cs typeface="Poppins"/>
                <a:sym typeface="Poppins"/>
              </a:rPr>
              <a:t>Nivel de Integración</a:t>
            </a:r>
          </a:p>
        </p:txBody>
      </p:sp>
      <p:sp>
        <p:nvSpPr>
          <p:cNvPr id="11" name="TextBox 11"/>
          <p:cNvSpPr txBox="1"/>
          <p:nvPr/>
        </p:nvSpPr>
        <p:spPr>
          <a:xfrm>
            <a:off x="7973664" y="2088514"/>
            <a:ext cx="9418833" cy="6109970"/>
          </a:xfrm>
          <a:prstGeom prst="rect">
            <a:avLst/>
          </a:prstGeom>
        </p:spPr>
        <p:txBody>
          <a:bodyPr lIns="0" tIns="0" rIns="0" bIns="0" rtlCol="0" anchor="t">
            <a:spAutoFit/>
          </a:bodyPr>
          <a:lstStyle/>
          <a:p>
            <a:pPr marL="604519" lvl="1" indent="-302260" algn="l">
              <a:lnSpc>
                <a:spcPts val="6999"/>
              </a:lnSpc>
              <a:buFont typeface="Arial"/>
              <a:buChar char="•"/>
            </a:pPr>
            <a:r>
              <a:rPr lang="es-PA" sz="2799">
                <a:solidFill>
                  <a:srgbClr val="2E2E2E"/>
                </a:solidFill>
                <a:latin typeface="Poppins"/>
                <a:ea typeface="Poppins"/>
                <a:cs typeface="Poppins"/>
                <a:sym typeface="Poppins"/>
              </a:rPr>
              <a:t>Nivel ideal de calidad de datos: ≥ 7.5 </a:t>
            </a:r>
          </a:p>
          <a:p>
            <a:pPr marL="604519" lvl="1" indent="-302260" algn="l">
              <a:lnSpc>
                <a:spcPts val="6999"/>
              </a:lnSpc>
              <a:buFont typeface="Arial"/>
              <a:buChar char="•"/>
            </a:pPr>
            <a:r>
              <a:rPr lang="es-PA" sz="2799">
                <a:solidFill>
                  <a:srgbClr val="2E2E2E"/>
                </a:solidFill>
                <a:latin typeface="Poppins"/>
                <a:ea typeface="Poppins"/>
                <a:cs typeface="Poppins"/>
                <a:sym typeface="Poppins"/>
              </a:rPr>
              <a:t>Tiempo de procesamiento esperado: &lt; 10 horas </a:t>
            </a:r>
          </a:p>
          <a:p>
            <a:pPr marL="604519" lvl="1" indent="-302260" algn="l">
              <a:lnSpc>
                <a:spcPts val="6999"/>
              </a:lnSpc>
              <a:buFont typeface="Arial"/>
              <a:buChar char="•"/>
            </a:pPr>
            <a:r>
              <a:rPr lang="es-PA" sz="2799">
                <a:solidFill>
                  <a:srgbClr val="2E2E2E"/>
                </a:solidFill>
                <a:latin typeface="Poppins"/>
                <a:ea typeface="Poppins"/>
                <a:cs typeface="Poppins"/>
                <a:sym typeface="Poppins"/>
              </a:rPr>
              <a:t>Tamaño típico de base de datos en pruebas: 30 GB </a:t>
            </a:r>
          </a:p>
          <a:p>
            <a:pPr marL="604519" lvl="1" indent="-302260" algn="l">
              <a:lnSpc>
                <a:spcPts val="6999"/>
              </a:lnSpc>
              <a:buFont typeface="Arial"/>
              <a:buChar char="•"/>
            </a:pPr>
            <a:r>
              <a:rPr lang="es-PA" sz="2799">
                <a:solidFill>
                  <a:srgbClr val="2E2E2E"/>
                </a:solidFill>
                <a:latin typeface="Poppins"/>
                <a:ea typeface="Poppins"/>
                <a:cs typeface="Poppins"/>
                <a:sym typeface="Poppins"/>
              </a:rPr>
              <a:t>Nivel de integración esperado: 4 o 5 </a:t>
            </a:r>
          </a:p>
          <a:p>
            <a:pPr marL="604519" lvl="1" indent="-302260" algn="l">
              <a:lnSpc>
                <a:spcPts val="6999"/>
              </a:lnSpc>
              <a:buFont typeface="Arial"/>
              <a:buChar char="•"/>
            </a:pPr>
            <a:r>
              <a:rPr lang="es-PA" sz="2799">
                <a:solidFill>
                  <a:srgbClr val="2E2E2E"/>
                </a:solidFill>
                <a:latin typeface="Poppins"/>
                <a:ea typeface="Poppins"/>
                <a:cs typeface="Poppins"/>
                <a:sym typeface="Poppins"/>
              </a:rPr>
              <a:t>SLA establecido: 90% de las operaciones deben completarse en menos de 8 horas</a:t>
            </a:r>
          </a:p>
        </p:txBody>
      </p:sp>
      <p:sp>
        <p:nvSpPr>
          <p:cNvPr id="12" name="TextBox 12"/>
          <p:cNvSpPr txBox="1"/>
          <p:nvPr/>
        </p:nvSpPr>
        <p:spPr>
          <a:xfrm>
            <a:off x="9167716" y="362629"/>
            <a:ext cx="7030730" cy="1995806"/>
          </a:xfrm>
          <a:prstGeom prst="rect">
            <a:avLst/>
          </a:prstGeom>
        </p:spPr>
        <p:txBody>
          <a:bodyPr lIns="0" tIns="0" rIns="0" bIns="0" rtlCol="0" anchor="t">
            <a:spAutoFit/>
          </a:bodyPr>
          <a:lstStyle/>
          <a:p>
            <a:pPr algn="ctr">
              <a:lnSpc>
                <a:spcPts val="7700"/>
              </a:lnSpc>
            </a:pPr>
            <a:r>
              <a:rPr lang="es-PA" sz="7700" b="1" dirty="0">
                <a:solidFill>
                  <a:srgbClr val="000000"/>
                </a:solidFill>
                <a:latin typeface="Canva Sans Bold"/>
                <a:ea typeface="Canva Sans Bold"/>
                <a:cs typeface="Canva Sans Bold"/>
                <a:sym typeface="Canva Sans Bold"/>
              </a:rPr>
              <a:t>Parámetros de Referencia</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ircle(in)">
                                      <p:cBhvr>
                                        <p:cTn id="12"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10"/>
          <p:cNvSpPr/>
          <p:nvPr/>
        </p:nvSpPr>
        <p:spPr>
          <a:xfrm>
            <a:off x="-2667000" y="1786465"/>
            <a:ext cx="8918179" cy="19050"/>
          </a:xfrm>
          <a:prstGeom prst="line">
            <a:avLst/>
          </a:prstGeom>
          <a:ln w="28575" cap="flat">
            <a:solidFill>
              <a:srgbClr val="000000"/>
            </a:solidFill>
            <a:prstDash val="solid"/>
            <a:headEnd type="none" w="sm" len="sm"/>
            <a:tailEnd type="none" w="sm" len="sm"/>
          </a:ln>
        </p:spPr>
      </p:sp>
      <p:graphicFrame>
        <p:nvGraphicFramePr>
          <p:cNvPr id="11" name="Object 11"/>
          <p:cNvGraphicFramePr/>
          <p:nvPr>
            <p:extLst>
              <p:ext uri="{D42A27DB-BD31-4B8C-83A1-F6EECF244321}">
                <p14:modId xmlns:p14="http://schemas.microsoft.com/office/powerpoint/2010/main" val="2911497985"/>
              </p:ext>
            </p:extLst>
          </p:nvPr>
        </p:nvGraphicFramePr>
        <p:xfrm>
          <a:off x="-137847" y="1313227"/>
          <a:ext cx="10972800" cy="8229600"/>
        </p:xfrm>
        <a:graphic>
          <a:graphicData uri="http://schemas.openxmlformats.org/presentationml/2006/ole">
            <mc:AlternateContent xmlns:mc="http://schemas.openxmlformats.org/markup-compatibility/2006">
              <mc:Choice xmlns:v="urn:schemas-microsoft-com:vml" Requires="v">
                <p:oleObj spid="_x0000_s1031" name="Worksheet" r:id="rId3" imgW="13157200" imgH="10414000" progId="Excel.Sheet.12">
                  <p:embed/>
                </p:oleObj>
              </mc:Choice>
              <mc:Fallback>
                <p:oleObj name="Worksheet" r:id="rId3" imgW="13157200" imgH="10414000" progId="Excel.Sheet.12">
                  <p:embed/>
                  <p:pic>
                    <p:nvPicPr>
                      <p:cNvPr id="0" name=""/>
                      <p:cNvPicPr/>
                      <p:nvPr/>
                    </p:nvPicPr>
                    <p:blipFill>
                      <a:blip r:embed="rId4"/>
                      <a:stretch>
                        <a:fillRect/>
                      </a:stretch>
                    </p:blipFill>
                    <p:spPr>
                      <a:xfrm>
                        <a:off x="-137847" y="1313227"/>
                        <a:ext cx="10972800" cy="8229600"/>
                      </a:xfrm>
                      <a:prstGeom prst="rect">
                        <a:avLst/>
                      </a:prstGeom>
                    </p:spPr>
                  </p:pic>
                </p:oleObj>
              </mc:Fallback>
            </mc:AlternateContent>
          </a:graphicData>
        </a:graphic>
      </p:graphicFrame>
      <p:sp>
        <p:nvSpPr>
          <p:cNvPr id="12" name="Freeform 12"/>
          <p:cNvSpPr/>
          <p:nvPr/>
        </p:nvSpPr>
        <p:spPr>
          <a:xfrm>
            <a:off x="6979664" y="1442673"/>
            <a:ext cx="5124497" cy="3017500"/>
          </a:xfrm>
          <a:custGeom>
            <a:avLst/>
            <a:gdLst/>
            <a:ahLst/>
            <a:cxnLst/>
            <a:rect l="l" t="t" r="r" b="b"/>
            <a:pathLst>
              <a:path w="5124497" h="3017500">
                <a:moveTo>
                  <a:pt x="0" y="0"/>
                </a:moveTo>
                <a:lnTo>
                  <a:pt x="5124497" y="0"/>
                </a:lnTo>
                <a:lnTo>
                  <a:pt x="5124497" y="3017499"/>
                </a:lnTo>
                <a:lnTo>
                  <a:pt x="0" y="3017499"/>
                </a:lnTo>
                <a:lnTo>
                  <a:pt x="0" y="0"/>
                </a:lnTo>
                <a:close/>
              </a:path>
            </a:pathLst>
          </a:custGeom>
          <a:blipFill>
            <a:blip r:embed="rId5"/>
            <a:stretch>
              <a:fillRect r="-1909"/>
            </a:stretch>
          </a:blipFill>
        </p:spPr>
      </p:sp>
      <p:sp>
        <p:nvSpPr>
          <p:cNvPr id="13" name="Freeform 13"/>
          <p:cNvSpPr/>
          <p:nvPr/>
        </p:nvSpPr>
        <p:spPr>
          <a:xfrm>
            <a:off x="12333639" y="1442673"/>
            <a:ext cx="4850214" cy="3017500"/>
          </a:xfrm>
          <a:custGeom>
            <a:avLst/>
            <a:gdLst/>
            <a:ahLst/>
            <a:cxnLst/>
            <a:rect l="l" t="t" r="r" b="b"/>
            <a:pathLst>
              <a:path w="4850214" h="3017500">
                <a:moveTo>
                  <a:pt x="0" y="0"/>
                </a:moveTo>
                <a:lnTo>
                  <a:pt x="4850214" y="0"/>
                </a:lnTo>
                <a:lnTo>
                  <a:pt x="4850214" y="3017499"/>
                </a:lnTo>
                <a:lnTo>
                  <a:pt x="0" y="3017499"/>
                </a:lnTo>
                <a:lnTo>
                  <a:pt x="0" y="0"/>
                </a:lnTo>
                <a:close/>
              </a:path>
            </a:pathLst>
          </a:custGeom>
          <a:blipFill>
            <a:blip r:embed="rId6"/>
            <a:stretch>
              <a:fillRect/>
            </a:stretch>
          </a:blipFill>
        </p:spPr>
      </p:sp>
      <p:sp>
        <p:nvSpPr>
          <p:cNvPr id="14" name="Freeform 14"/>
          <p:cNvSpPr/>
          <p:nvPr/>
        </p:nvSpPr>
        <p:spPr>
          <a:xfrm>
            <a:off x="8902854" y="5061857"/>
            <a:ext cx="7035828" cy="2763793"/>
          </a:xfrm>
          <a:custGeom>
            <a:avLst/>
            <a:gdLst/>
            <a:ahLst/>
            <a:cxnLst/>
            <a:rect l="l" t="t" r="r" b="b"/>
            <a:pathLst>
              <a:path w="7035828" h="2763793">
                <a:moveTo>
                  <a:pt x="0" y="0"/>
                </a:moveTo>
                <a:lnTo>
                  <a:pt x="7035828" y="0"/>
                </a:lnTo>
                <a:lnTo>
                  <a:pt x="7035828" y="2763793"/>
                </a:lnTo>
                <a:lnTo>
                  <a:pt x="0" y="2763793"/>
                </a:lnTo>
                <a:lnTo>
                  <a:pt x="0" y="0"/>
                </a:lnTo>
                <a:close/>
              </a:path>
            </a:pathLst>
          </a:custGeom>
          <a:blipFill>
            <a:blip r:embed="rId7"/>
            <a:stretch>
              <a:fillRect/>
            </a:stretch>
          </a:blipFill>
        </p:spPr>
        <p:txBody>
          <a:bodyPr/>
          <a:lstStyle/>
          <a:p>
            <a:endParaRPr lang="es-ES" dirty="0"/>
          </a:p>
        </p:txBody>
      </p:sp>
      <p:sp>
        <p:nvSpPr>
          <p:cNvPr id="15" name="TextBox 15"/>
          <p:cNvSpPr txBox="1"/>
          <p:nvPr/>
        </p:nvSpPr>
        <p:spPr>
          <a:xfrm>
            <a:off x="1104147" y="308175"/>
            <a:ext cx="6604245" cy="1497340"/>
          </a:xfrm>
          <a:prstGeom prst="rect">
            <a:avLst/>
          </a:prstGeom>
        </p:spPr>
        <p:txBody>
          <a:bodyPr lIns="0" tIns="0" rIns="0" bIns="0" rtlCol="0" anchor="t">
            <a:spAutoFit/>
          </a:bodyPr>
          <a:lstStyle/>
          <a:p>
            <a:pPr algn="l">
              <a:lnSpc>
                <a:spcPts val="5610"/>
              </a:lnSpc>
            </a:pPr>
            <a:r>
              <a:rPr lang="en-US" sz="5500" b="1" dirty="0">
                <a:solidFill>
                  <a:srgbClr val="8D0000"/>
                </a:solidFill>
                <a:latin typeface="Poppins Bold"/>
                <a:ea typeface="Poppins Bold"/>
                <a:cs typeface="Poppins Bold"/>
                <a:sym typeface="Poppins Bold"/>
              </a:rPr>
              <a:t>ANÁLISIS DESCRIPTIVO</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76640" y="2258482"/>
            <a:ext cx="4836832" cy="0"/>
          </a:xfrm>
          <a:prstGeom prst="line">
            <a:avLst/>
          </a:prstGeom>
          <a:ln w="28575" cap="flat">
            <a:solidFill>
              <a:srgbClr val="000000"/>
            </a:solidFill>
            <a:prstDash val="solid"/>
            <a:headEnd type="none" w="sm" len="sm"/>
            <a:tailEnd type="none" w="sm" len="sm"/>
          </a:ln>
        </p:spPr>
      </p:sp>
      <p:sp>
        <p:nvSpPr>
          <p:cNvPr id="9" name="Freeform 9"/>
          <p:cNvSpPr/>
          <p:nvPr/>
        </p:nvSpPr>
        <p:spPr>
          <a:xfrm>
            <a:off x="8608245" y="2497518"/>
            <a:ext cx="6326082" cy="3656849"/>
          </a:xfrm>
          <a:custGeom>
            <a:avLst/>
            <a:gdLst/>
            <a:ahLst/>
            <a:cxnLst/>
            <a:rect l="l" t="t" r="r" b="b"/>
            <a:pathLst>
              <a:path w="6326082" h="3656849">
                <a:moveTo>
                  <a:pt x="0" y="0"/>
                </a:moveTo>
                <a:lnTo>
                  <a:pt x="6326083" y="0"/>
                </a:lnTo>
                <a:lnTo>
                  <a:pt x="6326083" y="3656849"/>
                </a:lnTo>
                <a:lnTo>
                  <a:pt x="0" y="3656849"/>
                </a:lnTo>
                <a:lnTo>
                  <a:pt x="0" y="0"/>
                </a:lnTo>
                <a:close/>
              </a:path>
            </a:pathLst>
          </a:custGeom>
          <a:blipFill>
            <a:blip r:embed="rId3"/>
            <a:stretch>
              <a:fillRect/>
            </a:stretch>
          </a:blipFill>
        </p:spPr>
      </p:sp>
      <p:graphicFrame>
        <p:nvGraphicFramePr>
          <p:cNvPr id="10" name="Object 10"/>
          <p:cNvGraphicFramePr/>
          <p:nvPr>
            <p:extLst>
              <p:ext uri="{D42A27DB-BD31-4B8C-83A1-F6EECF244321}">
                <p14:modId xmlns:p14="http://schemas.microsoft.com/office/powerpoint/2010/main" val="517162347"/>
              </p:ext>
            </p:extLst>
          </p:nvPr>
        </p:nvGraphicFramePr>
        <p:xfrm>
          <a:off x="2057400" y="2030601"/>
          <a:ext cx="4814888" cy="3143250"/>
        </p:xfrm>
        <a:graphic>
          <a:graphicData uri="http://schemas.openxmlformats.org/presentationml/2006/ole">
            <mc:AlternateContent xmlns:mc="http://schemas.openxmlformats.org/markup-compatibility/2006">
              <mc:Choice xmlns:v="urn:schemas-microsoft-com:vml" Requires="v">
                <p:oleObj spid="_x0000_s2060" name="Worksheet" r:id="rId4" imgW="5778500" imgH="4102100" progId="Excel.Sheet.12">
                  <p:embed/>
                </p:oleObj>
              </mc:Choice>
              <mc:Fallback>
                <p:oleObj name="Worksheet" r:id="rId4" imgW="5778500" imgH="4102100" progId="Excel.Sheet.12">
                  <p:embed/>
                  <p:pic>
                    <p:nvPicPr>
                      <p:cNvPr id="0" name=""/>
                      <p:cNvPicPr/>
                      <p:nvPr/>
                    </p:nvPicPr>
                    <p:blipFill>
                      <a:blip r:embed="rId5"/>
                      <a:stretch>
                        <a:fillRect/>
                      </a:stretch>
                    </p:blipFill>
                    <p:spPr>
                      <a:xfrm>
                        <a:off x="2057400" y="2030601"/>
                        <a:ext cx="4814888" cy="3143250"/>
                      </a:xfrm>
                      <a:prstGeom prst="rect">
                        <a:avLst/>
                      </a:prstGeom>
                    </p:spPr>
                  </p:pic>
                </p:oleObj>
              </mc:Fallback>
            </mc:AlternateContent>
          </a:graphicData>
        </a:graphic>
      </p:graphicFrame>
      <p:sp>
        <p:nvSpPr>
          <p:cNvPr id="11" name="Freeform 11"/>
          <p:cNvSpPr/>
          <p:nvPr/>
        </p:nvSpPr>
        <p:spPr>
          <a:xfrm>
            <a:off x="850558" y="4122479"/>
            <a:ext cx="6326082" cy="3579753"/>
          </a:xfrm>
          <a:custGeom>
            <a:avLst/>
            <a:gdLst/>
            <a:ahLst/>
            <a:cxnLst/>
            <a:rect l="l" t="t" r="r" b="b"/>
            <a:pathLst>
              <a:path w="6326082" h="3579753">
                <a:moveTo>
                  <a:pt x="0" y="0"/>
                </a:moveTo>
                <a:lnTo>
                  <a:pt x="6326082" y="0"/>
                </a:lnTo>
                <a:lnTo>
                  <a:pt x="6326082" y="3579753"/>
                </a:lnTo>
                <a:lnTo>
                  <a:pt x="0" y="3579753"/>
                </a:lnTo>
                <a:lnTo>
                  <a:pt x="0" y="0"/>
                </a:lnTo>
                <a:close/>
              </a:path>
            </a:pathLst>
          </a:custGeom>
          <a:blipFill>
            <a:blip r:embed="rId6"/>
            <a:stretch>
              <a:fillRect/>
            </a:stretch>
          </a:blipFill>
        </p:spPr>
      </p:sp>
      <p:graphicFrame>
        <p:nvGraphicFramePr>
          <p:cNvPr id="12" name="Object 12"/>
          <p:cNvGraphicFramePr/>
          <p:nvPr/>
        </p:nvGraphicFramePr>
        <p:xfrm>
          <a:off x="9144000" y="7339848"/>
          <a:ext cx="3771900" cy="628650"/>
        </p:xfrm>
        <a:graphic>
          <a:graphicData uri="http://schemas.openxmlformats.org/presentationml/2006/ole">
            <mc:AlternateContent xmlns:mc="http://schemas.openxmlformats.org/markup-compatibility/2006">
              <mc:Choice xmlns:v="urn:schemas-microsoft-com:vml" Requires="v">
                <p:oleObj spid="_x0000_s2061" name="Worksheet" r:id="rId7" imgW="4521200" imgH="1371600" progId="Excel.Sheet.12">
                  <p:embed/>
                </p:oleObj>
              </mc:Choice>
              <mc:Fallback>
                <p:oleObj name="Worksheet" r:id="rId7" imgW="4521200" imgH="1371600" progId="Excel.Sheet.12">
                  <p:embed/>
                  <p:pic>
                    <p:nvPicPr>
                      <p:cNvPr id="0" name=""/>
                      <p:cNvPicPr/>
                      <p:nvPr/>
                    </p:nvPicPr>
                    <p:blipFill>
                      <a:blip r:embed="rId8"/>
                      <a:stretch>
                        <a:fillRect/>
                      </a:stretch>
                    </p:blipFill>
                    <p:spPr>
                      <a:xfrm>
                        <a:off x="9144000" y="7339848"/>
                        <a:ext cx="3771900" cy="628650"/>
                      </a:xfrm>
                      <a:prstGeom prst="rect">
                        <a:avLst/>
                      </a:prstGeom>
                    </p:spPr>
                  </p:pic>
                </p:oleObj>
              </mc:Fallback>
            </mc:AlternateContent>
          </a:graphicData>
        </a:graphic>
      </p:graphicFrame>
      <p:sp>
        <p:nvSpPr>
          <p:cNvPr id="13" name="TextBox 13"/>
          <p:cNvSpPr txBox="1"/>
          <p:nvPr/>
        </p:nvSpPr>
        <p:spPr>
          <a:xfrm>
            <a:off x="4255784" y="1209758"/>
            <a:ext cx="10678544" cy="1398904"/>
          </a:xfrm>
          <a:prstGeom prst="rect">
            <a:avLst/>
          </a:prstGeom>
        </p:spPr>
        <p:txBody>
          <a:bodyPr lIns="0" tIns="0" rIns="0" bIns="0" rtlCol="0" anchor="t">
            <a:spAutoFit/>
          </a:bodyPr>
          <a:lstStyle/>
          <a:p>
            <a:pPr marL="1187449" lvl="1" indent="-593725" algn="l">
              <a:lnSpc>
                <a:spcPts val="7699"/>
              </a:lnSpc>
              <a:buFont typeface="Arial"/>
              <a:buChar char="•"/>
            </a:pPr>
            <a:r>
              <a:rPr lang="en-US" sz="5499" b="1" spc="516">
                <a:solidFill>
                  <a:srgbClr val="8D0000"/>
                </a:solidFill>
                <a:latin typeface="Poppins Bold"/>
                <a:ea typeface="Poppins Bold"/>
                <a:cs typeface="Poppins Bold"/>
                <a:sym typeface="Poppins Bold"/>
              </a:rPr>
              <a:t>ANÁLISIS DESCRIPTIVO</a:t>
            </a:r>
          </a:p>
          <a:p>
            <a:pPr algn="just">
              <a:lnSpc>
                <a:spcPts val="2940"/>
              </a:lnSpc>
            </a:pPr>
            <a:endParaRPr lang="en-US" sz="5499" b="1" spc="516">
              <a:solidFill>
                <a:srgbClr val="8D0000"/>
              </a:solidFill>
              <a:latin typeface="Poppins Bold"/>
              <a:ea typeface="Poppins Bold"/>
              <a:cs typeface="Poppins Bold"/>
              <a:sym typeface="Poppins Bold"/>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768846"/>
            <a:ext cx="8069842" cy="1042680"/>
          </a:xfrm>
          <a:prstGeom prst="rect">
            <a:avLst/>
          </a:prstGeom>
        </p:spPr>
        <p:txBody>
          <a:bodyPr lIns="0" tIns="0" rIns="0" bIns="0" rtlCol="0" anchor="t">
            <a:spAutoFit/>
          </a:bodyPr>
          <a:lstStyle/>
          <a:p>
            <a:pPr algn="l">
              <a:lnSpc>
                <a:spcPts val="7300"/>
              </a:lnSpc>
            </a:pPr>
            <a:r>
              <a:rPr lang="en-US" sz="7300" b="1">
                <a:solidFill>
                  <a:srgbClr val="8D0000"/>
                </a:solidFill>
                <a:latin typeface="Poppins Bold"/>
                <a:ea typeface="Poppins Bold"/>
                <a:cs typeface="Poppins Bold"/>
                <a:sym typeface="Poppins Bold"/>
              </a:rPr>
              <a:t>REGRESIÓN</a:t>
            </a:r>
          </a:p>
        </p:txBody>
      </p:sp>
      <p:sp>
        <p:nvSpPr>
          <p:cNvPr id="6" name="AutoShape 6"/>
          <p:cNvSpPr/>
          <p:nvPr/>
        </p:nvSpPr>
        <p:spPr>
          <a:xfrm>
            <a:off x="-2263054" y="1811526"/>
            <a:ext cx="10602143" cy="0"/>
          </a:xfrm>
          <a:prstGeom prst="line">
            <a:avLst/>
          </a:prstGeom>
          <a:ln w="28575" cap="flat">
            <a:solidFill>
              <a:srgbClr val="000000"/>
            </a:solidFill>
            <a:prstDash val="solid"/>
            <a:headEnd type="none" w="sm" len="sm"/>
            <a:tailEnd type="none" w="sm" len="sm"/>
          </a:ln>
        </p:spPr>
      </p:sp>
      <p:sp>
        <p:nvSpPr>
          <p:cNvPr id="7" name="Freeform 7"/>
          <p:cNvSpPr/>
          <p:nvPr/>
        </p:nvSpPr>
        <p:spPr>
          <a:xfrm>
            <a:off x="381000" y="2948247"/>
            <a:ext cx="7678505" cy="4390505"/>
          </a:xfrm>
          <a:custGeom>
            <a:avLst/>
            <a:gdLst/>
            <a:ahLst/>
            <a:cxnLst/>
            <a:rect l="l" t="t" r="r" b="b"/>
            <a:pathLst>
              <a:path w="7678505" h="4390505">
                <a:moveTo>
                  <a:pt x="0" y="0"/>
                </a:moveTo>
                <a:lnTo>
                  <a:pt x="7678505" y="0"/>
                </a:lnTo>
                <a:lnTo>
                  <a:pt x="7678505" y="4390505"/>
                </a:lnTo>
                <a:lnTo>
                  <a:pt x="0" y="4390505"/>
                </a:lnTo>
                <a:lnTo>
                  <a:pt x="0" y="0"/>
                </a:lnTo>
                <a:close/>
              </a:path>
            </a:pathLst>
          </a:custGeom>
          <a:blipFill>
            <a:blip r:embed="rId3"/>
            <a:stretch>
              <a:fillRect/>
            </a:stretch>
          </a:blipFill>
        </p:spPr>
      </p:sp>
      <p:graphicFrame>
        <p:nvGraphicFramePr>
          <p:cNvPr id="8" name="Object 8"/>
          <p:cNvGraphicFramePr/>
          <p:nvPr>
            <p:extLst>
              <p:ext uri="{D42A27DB-BD31-4B8C-83A1-F6EECF244321}">
                <p14:modId xmlns:p14="http://schemas.microsoft.com/office/powerpoint/2010/main" val="3548902246"/>
              </p:ext>
            </p:extLst>
          </p:nvPr>
        </p:nvGraphicFramePr>
        <p:xfrm>
          <a:off x="8339089" y="3123405"/>
          <a:ext cx="7081837" cy="4040188"/>
        </p:xfrm>
        <a:graphic>
          <a:graphicData uri="http://schemas.openxmlformats.org/presentationml/2006/ole">
            <mc:AlternateContent xmlns:mc="http://schemas.openxmlformats.org/markup-compatibility/2006">
              <mc:Choice xmlns:v="urn:schemas-microsoft-com:vml" Requires="v">
                <p:oleObj spid="_x0000_s3079" name="Worksheet" r:id="rId4" imgW="12465038" imgH="4845138" progId="Excel.Sheet.12">
                  <p:embed/>
                </p:oleObj>
              </mc:Choice>
              <mc:Fallback>
                <p:oleObj name="Worksheet" r:id="rId4" imgW="12465038" imgH="4845138" progId="Excel.Sheet.12">
                  <p:embed/>
                  <p:pic>
                    <p:nvPicPr>
                      <p:cNvPr id="0" name=""/>
                      <p:cNvPicPr/>
                      <p:nvPr/>
                    </p:nvPicPr>
                    <p:blipFill>
                      <a:blip r:embed="rId5"/>
                      <a:stretch>
                        <a:fillRect/>
                      </a:stretch>
                    </p:blipFill>
                    <p:spPr>
                      <a:xfrm>
                        <a:off x="8339089" y="3123405"/>
                        <a:ext cx="7081837" cy="4040188"/>
                      </a:xfrm>
                      <a:prstGeom prst="rect">
                        <a:avLst/>
                      </a:prstGeom>
                    </p:spPr>
                  </p:pic>
                </p:oleObj>
              </mc:Fallback>
            </mc:AlternateContent>
          </a:graphicData>
        </a:graphic>
      </p:graphicFrame>
      <p:sp>
        <p:nvSpPr>
          <p:cNvPr id="9" name="Freeform 9"/>
          <p:cNvSpPr/>
          <p:nvPr/>
        </p:nvSpPr>
        <p:spPr>
          <a:xfrm>
            <a:off x="12317968" y="1525776"/>
            <a:ext cx="4906461" cy="2949096"/>
          </a:xfrm>
          <a:custGeom>
            <a:avLst/>
            <a:gdLst/>
            <a:ahLst/>
            <a:cxnLst/>
            <a:rect l="l" t="t" r="r" b="b"/>
            <a:pathLst>
              <a:path w="4906461" h="2949096">
                <a:moveTo>
                  <a:pt x="0" y="0"/>
                </a:moveTo>
                <a:lnTo>
                  <a:pt x="4906460" y="0"/>
                </a:lnTo>
                <a:lnTo>
                  <a:pt x="4906460" y="2949096"/>
                </a:lnTo>
                <a:lnTo>
                  <a:pt x="0" y="2949096"/>
                </a:lnTo>
                <a:lnTo>
                  <a:pt x="0" y="0"/>
                </a:lnTo>
                <a:close/>
              </a:path>
            </a:pathLst>
          </a:custGeom>
          <a:blipFill>
            <a:blip r:embed="rId6"/>
            <a:stretch>
              <a:fillRect/>
            </a:stretch>
          </a:blipFill>
        </p:spPr>
      </p:sp>
      <p:sp>
        <p:nvSpPr>
          <p:cNvPr id="10" name="TextBox 10"/>
          <p:cNvSpPr txBox="1"/>
          <p:nvPr/>
        </p:nvSpPr>
        <p:spPr>
          <a:xfrm>
            <a:off x="2904157" y="1525776"/>
            <a:ext cx="3628638" cy="965203"/>
          </a:xfrm>
          <a:prstGeom prst="rect">
            <a:avLst/>
          </a:prstGeom>
        </p:spPr>
        <p:txBody>
          <a:bodyPr lIns="0" tIns="0" rIns="0" bIns="0" rtlCol="0" anchor="t">
            <a:spAutoFit/>
          </a:bodyPr>
          <a:lstStyle/>
          <a:p>
            <a:pPr algn="l">
              <a:lnSpc>
                <a:spcPts val="7999"/>
              </a:lnSpc>
            </a:pPr>
            <a:r>
              <a:rPr lang="en-US" sz="4999">
                <a:solidFill>
                  <a:srgbClr val="2E2E2E"/>
                </a:solidFill>
                <a:latin typeface="Howell"/>
                <a:ea typeface="Howell"/>
                <a:cs typeface="Howell"/>
                <a:sym typeface="Howell"/>
              </a:rPr>
              <a:t>Lineal Simple</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2204" y="311974"/>
            <a:ext cx="8069842" cy="1042680"/>
          </a:xfrm>
          <a:prstGeom prst="rect">
            <a:avLst/>
          </a:prstGeom>
        </p:spPr>
        <p:txBody>
          <a:bodyPr lIns="0" tIns="0" rIns="0" bIns="0" rtlCol="0" anchor="t">
            <a:spAutoFit/>
          </a:bodyPr>
          <a:lstStyle/>
          <a:p>
            <a:pPr algn="l">
              <a:lnSpc>
                <a:spcPts val="7300"/>
              </a:lnSpc>
            </a:pPr>
            <a:r>
              <a:rPr lang="en-US" sz="7300" b="1">
                <a:solidFill>
                  <a:srgbClr val="8D0000"/>
                </a:solidFill>
                <a:latin typeface="Poppins Bold"/>
                <a:ea typeface="Poppins Bold"/>
                <a:cs typeface="Poppins Bold"/>
                <a:sym typeface="Poppins Bold"/>
              </a:rPr>
              <a:t>REGRESIÓN</a:t>
            </a:r>
          </a:p>
        </p:txBody>
      </p:sp>
      <p:sp>
        <p:nvSpPr>
          <p:cNvPr id="3" name="AutoShape 3"/>
          <p:cNvSpPr/>
          <p:nvPr/>
        </p:nvSpPr>
        <p:spPr>
          <a:xfrm>
            <a:off x="-2140097" y="1340366"/>
            <a:ext cx="10602143" cy="0"/>
          </a:xfrm>
          <a:prstGeom prst="line">
            <a:avLst/>
          </a:prstGeom>
          <a:ln w="28575" cap="flat">
            <a:solidFill>
              <a:srgbClr val="000000"/>
            </a:solidFill>
            <a:prstDash val="solid"/>
            <a:headEnd type="none" w="sm" len="sm"/>
            <a:tailEnd type="none" w="sm" len="sm"/>
          </a:ln>
        </p:spPr>
      </p:sp>
      <p:graphicFrame>
        <p:nvGraphicFramePr>
          <p:cNvPr id="4" name="Object 4"/>
          <p:cNvGraphicFramePr/>
          <p:nvPr>
            <p:extLst>
              <p:ext uri="{D42A27DB-BD31-4B8C-83A1-F6EECF244321}">
                <p14:modId xmlns:p14="http://schemas.microsoft.com/office/powerpoint/2010/main" val="1163751413"/>
              </p:ext>
            </p:extLst>
          </p:nvPr>
        </p:nvGraphicFramePr>
        <p:xfrm>
          <a:off x="3657600" y="2368758"/>
          <a:ext cx="10494962" cy="2549525"/>
        </p:xfrm>
        <a:graphic>
          <a:graphicData uri="http://schemas.openxmlformats.org/presentationml/2006/ole">
            <mc:AlternateContent xmlns:mc="http://schemas.openxmlformats.org/markup-compatibility/2006">
              <mc:Choice xmlns:v="urn:schemas-microsoft-com:vml" Requires="v">
                <p:oleObj spid="_x0000_s4108" name="Worksheet" r:id="rId3" imgW="12592087" imgH="5283025" progId="Excel.Sheet.12">
                  <p:embed/>
                </p:oleObj>
              </mc:Choice>
              <mc:Fallback>
                <p:oleObj name="Worksheet" r:id="rId3" imgW="12592087" imgH="5283025" progId="Excel.Sheet.12">
                  <p:embed/>
                  <p:pic>
                    <p:nvPicPr>
                      <p:cNvPr id="0" name=""/>
                      <p:cNvPicPr/>
                      <p:nvPr/>
                    </p:nvPicPr>
                    <p:blipFill>
                      <a:blip r:embed="rId4"/>
                      <a:stretch>
                        <a:fillRect/>
                      </a:stretch>
                    </p:blipFill>
                    <p:spPr>
                      <a:xfrm>
                        <a:off x="3657600" y="2368758"/>
                        <a:ext cx="10494962" cy="2549525"/>
                      </a:xfrm>
                      <a:prstGeom prst="rect">
                        <a:avLst/>
                      </a:prstGeom>
                    </p:spPr>
                  </p:pic>
                </p:oleObj>
              </mc:Fallback>
            </mc:AlternateContent>
          </a:graphicData>
        </a:graphic>
      </p:graphicFrame>
      <p:graphicFrame>
        <p:nvGraphicFramePr>
          <p:cNvPr id="5" name="Object 5"/>
          <p:cNvGraphicFramePr/>
          <p:nvPr>
            <p:extLst>
              <p:ext uri="{D42A27DB-BD31-4B8C-83A1-F6EECF244321}">
                <p14:modId xmlns:p14="http://schemas.microsoft.com/office/powerpoint/2010/main" val="2563993757"/>
              </p:ext>
            </p:extLst>
          </p:nvPr>
        </p:nvGraphicFramePr>
        <p:xfrm>
          <a:off x="3576638" y="5191022"/>
          <a:ext cx="14711362" cy="3178175"/>
        </p:xfrm>
        <a:graphic>
          <a:graphicData uri="http://schemas.openxmlformats.org/presentationml/2006/ole">
            <mc:AlternateContent xmlns:mc="http://schemas.openxmlformats.org/markup-compatibility/2006">
              <mc:Choice xmlns:v="urn:schemas-microsoft-com:vml" Requires="v">
                <p:oleObj spid="_x0000_s4109" name="Worksheet" r:id="rId5" imgW="17633814" imgH="3968575" progId="Excel.Sheet.12">
                  <p:embed/>
                </p:oleObj>
              </mc:Choice>
              <mc:Fallback>
                <p:oleObj name="Worksheet" r:id="rId5" imgW="17633814" imgH="3968575" progId="Excel.Sheet.12">
                  <p:embed/>
                  <p:pic>
                    <p:nvPicPr>
                      <p:cNvPr id="0" name=""/>
                      <p:cNvPicPr/>
                      <p:nvPr/>
                    </p:nvPicPr>
                    <p:blipFill>
                      <a:blip r:embed="rId6"/>
                      <a:stretch>
                        <a:fillRect/>
                      </a:stretch>
                    </p:blipFill>
                    <p:spPr>
                      <a:xfrm>
                        <a:off x="3576638" y="5191022"/>
                        <a:ext cx="14711362" cy="3178175"/>
                      </a:xfrm>
                      <a:prstGeom prst="rect">
                        <a:avLst/>
                      </a:prstGeom>
                    </p:spPr>
                  </p:pic>
                </p:oleObj>
              </mc:Fallback>
            </mc:AlternateContent>
          </a:graphicData>
        </a:graphic>
      </p:graphicFrame>
      <p:sp>
        <p:nvSpPr>
          <p:cNvPr id="6" name="TextBox 6"/>
          <p:cNvSpPr txBox="1"/>
          <p:nvPr/>
        </p:nvSpPr>
        <p:spPr>
          <a:xfrm>
            <a:off x="1028700" y="1130816"/>
            <a:ext cx="3837566" cy="965203"/>
          </a:xfrm>
          <a:prstGeom prst="rect">
            <a:avLst/>
          </a:prstGeom>
        </p:spPr>
        <p:txBody>
          <a:bodyPr lIns="0" tIns="0" rIns="0" bIns="0" rtlCol="0" anchor="t">
            <a:spAutoFit/>
          </a:bodyPr>
          <a:lstStyle/>
          <a:p>
            <a:pPr algn="l">
              <a:lnSpc>
                <a:spcPts val="7999"/>
              </a:lnSpc>
            </a:pPr>
            <a:r>
              <a:rPr lang="en-US" sz="4999">
                <a:solidFill>
                  <a:srgbClr val="2E2E2E"/>
                </a:solidFill>
                <a:latin typeface="Howell"/>
                <a:ea typeface="Howell"/>
                <a:cs typeface="Howell"/>
                <a:sym typeface="Howell"/>
              </a:rPr>
              <a:t>Lineal Multiple</a:t>
            </a:r>
          </a:p>
        </p:txBody>
      </p:sp>
      <p:sp>
        <p:nvSpPr>
          <p:cNvPr id="7" name="TextBox 7"/>
          <p:cNvSpPr txBox="1"/>
          <p:nvPr/>
        </p:nvSpPr>
        <p:spPr>
          <a:xfrm>
            <a:off x="122810" y="2106821"/>
            <a:ext cx="3301802" cy="523875"/>
          </a:xfrm>
          <a:prstGeom prst="rect">
            <a:avLst/>
          </a:prstGeom>
        </p:spPr>
        <p:txBody>
          <a:bodyPr lIns="0" tIns="0" rIns="0" bIns="0" rtlCol="0" anchor="t">
            <a:spAutoFit/>
          </a:bodyPr>
          <a:lstStyle/>
          <a:p>
            <a:pPr marL="647702" lvl="1" indent="-323851" algn="l">
              <a:lnSpc>
                <a:spcPts val="4200"/>
              </a:lnSpc>
              <a:buFont typeface="Arial"/>
              <a:buChar char="•"/>
            </a:pPr>
            <a:r>
              <a:rPr lang="en-US" sz="3000" dirty="0">
                <a:solidFill>
                  <a:srgbClr val="8D0000"/>
                </a:solidFill>
                <a:latin typeface="Disket Mono"/>
                <a:ea typeface="Disket Mono"/>
                <a:cs typeface="Disket Mono"/>
                <a:sym typeface="Disket Mono"/>
              </a:rPr>
              <a:t>Variables:</a:t>
            </a:r>
          </a:p>
        </p:txBody>
      </p:sp>
      <p:sp>
        <p:nvSpPr>
          <p:cNvPr id="8" name="TextBox 8"/>
          <p:cNvSpPr txBox="1"/>
          <p:nvPr/>
        </p:nvSpPr>
        <p:spPr>
          <a:xfrm>
            <a:off x="122810" y="5143500"/>
            <a:ext cx="2505869" cy="503086"/>
          </a:xfrm>
          <a:prstGeom prst="rect">
            <a:avLst/>
          </a:prstGeom>
        </p:spPr>
        <p:txBody>
          <a:bodyPr lIns="0" tIns="0" rIns="0" bIns="0" rtlCol="0" anchor="t">
            <a:spAutoFit/>
          </a:bodyPr>
          <a:lstStyle/>
          <a:p>
            <a:pPr marL="647702" lvl="1" indent="-323851" algn="l">
              <a:lnSpc>
                <a:spcPts val="4200"/>
              </a:lnSpc>
              <a:buFont typeface="Arial"/>
              <a:buChar char="•"/>
            </a:pPr>
            <a:r>
              <a:rPr lang="es-PA" sz="3000" dirty="0">
                <a:solidFill>
                  <a:srgbClr val="8D0000"/>
                </a:solidFill>
                <a:latin typeface="Disket Mono"/>
                <a:ea typeface="Disket Mono"/>
                <a:cs typeface="Disket Mono"/>
                <a:sym typeface="Disket Mono"/>
              </a:rPr>
              <a:t>modelo</a:t>
            </a:r>
            <a:r>
              <a:rPr lang="en-US" sz="3000" dirty="0">
                <a:solidFill>
                  <a:srgbClr val="8D0000"/>
                </a:solidFill>
                <a:latin typeface="Disket Mono"/>
                <a:ea typeface="Disket Mono"/>
                <a:cs typeface="Disket Mono"/>
                <a:sym typeface="Disket Mono"/>
              </a:rPr>
              <a:t>:</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772400" y="474849"/>
            <a:ext cx="9677400" cy="7666799"/>
            <a:chOff x="0" y="0"/>
            <a:chExt cx="2605856" cy="2311201"/>
          </a:xfrm>
        </p:grpSpPr>
        <p:sp>
          <p:nvSpPr>
            <p:cNvPr id="3" name="Freeform 3"/>
            <p:cNvSpPr/>
            <p:nvPr/>
          </p:nvSpPr>
          <p:spPr>
            <a:xfrm>
              <a:off x="0" y="0"/>
              <a:ext cx="2605856" cy="2311201"/>
            </a:xfrm>
            <a:custGeom>
              <a:avLst/>
              <a:gdLst/>
              <a:ahLst/>
              <a:cxnLst/>
              <a:rect l="l" t="t" r="r" b="b"/>
              <a:pathLst>
                <a:path w="2605856" h="2311201">
                  <a:moveTo>
                    <a:pt x="0" y="0"/>
                  </a:moveTo>
                  <a:lnTo>
                    <a:pt x="2605856" y="0"/>
                  </a:lnTo>
                  <a:lnTo>
                    <a:pt x="2605856" y="2311201"/>
                  </a:lnTo>
                  <a:lnTo>
                    <a:pt x="0" y="2311201"/>
                  </a:lnTo>
                  <a:close/>
                </a:path>
              </a:pathLst>
            </a:custGeom>
            <a:solidFill>
              <a:srgbClr val="FFFFFF"/>
            </a:solidFill>
            <a:ln w="47625" cap="sq">
              <a:solidFill>
                <a:srgbClr val="000000"/>
              </a:solidFill>
              <a:prstDash val="solid"/>
              <a:miter/>
            </a:ln>
          </p:spPr>
        </p:sp>
        <p:sp>
          <p:nvSpPr>
            <p:cNvPr id="4" name="TextBox 4"/>
            <p:cNvSpPr txBox="1"/>
            <p:nvPr/>
          </p:nvSpPr>
          <p:spPr>
            <a:xfrm>
              <a:off x="0" y="-47625"/>
              <a:ext cx="2605856" cy="2358826"/>
            </a:xfrm>
            <a:prstGeom prst="rect">
              <a:avLst/>
            </a:prstGeom>
          </p:spPr>
          <p:txBody>
            <a:bodyPr lIns="50800" tIns="50800" rIns="50800" bIns="50800" rtlCol="0" anchor="ctr"/>
            <a:lstStyle/>
            <a:p>
              <a:pPr algn="ctr">
                <a:lnSpc>
                  <a:spcPts val="3499"/>
                </a:lnSpc>
              </a:pPr>
              <a:endParaRPr/>
            </a:p>
          </p:txBody>
        </p:sp>
      </p:grpSp>
      <p:grpSp>
        <p:nvGrpSpPr>
          <p:cNvPr id="5" name="Group 5"/>
          <p:cNvGrpSpPr/>
          <p:nvPr/>
        </p:nvGrpSpPr>
        <p:grpSpPr>
          <a:xfrm>
            <a:off x="304800" y="4352052"/>
            <a:ext cx="6216969" cy="1324848"/>
            <a:chOff x="0" y="0"/>
            <a:chExt cx="1887668" cy="383927"/>
          </a:xfrm>
        </p:grpSpPr>
        <p:sp>
          <p:nvSpPr>
            <p:cNvPr id="6" name="Freeform 6"/>
            <p:cNvSpPr/>
            <p:nvPr/>
          </p:nvSpPr>
          <p:spPr>
            <a:xfrm>
              <a:off x="0" y="0"/>
              <a:ext cx="1887668" cy="383927"/>
            </a:xfrm>
            <a:custGeom>
              <a:avLst/>
              <a:gdLst/>
              <a:ahLst/>
              <a:cxnLst/>
              <a:rect l="l" t="t" r="r" b="b"/>
              <a:pathLst>
                <a:path w="1887668" h="383927">
                  <a:moveTo>
                    <a:pt x="55089" y="0"/>
                  </a:moveTo>
                  <a:lnTo>
                    <a:pt x="1832579" y="0"/>
                  </a:lnTo>
                  <a:cubicBezTo>
                    <a:pt x="1863004" y="0"/>
                    <a:pt x="1887668" y="24664"/>
                    <a:pt x="1887668" y="55089"/>
                  </a:cubicBezTo>
                  <a:lnTo>
                    <a:pt x="1887668" y="328838"/>
                  </a:lnTo>
                  <a:cubicBezTo>
                    <a:pt x="1887668" y="343449"/>
                    <a:pt x="1881864" y="357461"/>
                    <a:pt x="1871533" y="367792"/>
                  </a:cubicBezTo>
                  <a:cubicBezTo>
                    <a:pt x="1861202" y="378123"/>
                    <a:pt x="1847190" y="383927"/>
                    <a:pt x="1832579" y="383927"/>
                  </a:cubicBezTo>
                  <a:lnTo>
                    <a:pt x="55089" y="383927"/>
                  </a:lnTo>
                  <a:cubicBezTo>
                    <a:pt x="24664" y="383927"/>
                    <a:pt x="0" y="359263"/>
                    <a:pt x="0" y="328838"/>
                  </a:cubicBezTo>
                  <a:lnTo>
                    <a:pt x="0" y="55089"/>
                  </a:lnTo>
                  <a:cubicBezTo>
                    <a:pt x="0" y="24664"/>
                    <a:pt x="24664" y="0"/>
                    <a:pt x="55089" y="0"/>
                  </a:cubicBezTo>
                  <a:close/>
                </a:path>
              </a:pathLst>
            </a:custGeom>
            <a:solidFill>
              <a:srgbClr val="8D0000"/>
            </a:solidFill>
          </p:spPr>
        </p:sp>
        <p:sp>
          <p:nvSpPr>
            <p:cNvPr id="7" name="TextBox 7"/>
            <p:cNvSpPr txBox="1"/>
            <p:nvPr/>
          </p:nvSpPr>
          <p:spPr>
            <a:xfrm>
              <a:off x="0" y="-333375"/>
              <a:ext cx="1887668" cy="717302"/>
            </a:xfrm>
            <a:prstGeom prst="rect">
              <a:avLst/>
            </a:prstGeom>
          </p:spPr>
          <p:txBody>
            <a:bodyPr lIns="50800" tIns="50800" rIns="50800" bIns="50800" rtlCol="0" anchor="ctr"/>
            <a:lstStyle/>
            <a:p>
              <a:pPr algn="ctr">
                <a:lnSpc>
                  <a:spcPts val="6249"/>
                </a:lnSpc>
              </a:pPr>
              <a:endParaRPr/>
            </a:p>
          </p:txBody>
        </p:sp>
      </p:grpSp>
      <p:sp>
        <p:nvSpPr>
          <p:cNvPr id="8" name="AutoShape 8"/>
          <p:cNvSpPr/>
          <p:nvPr/>
        </p:nvSpPr>
        <p:spPr>
          <a:xfrm>
            <a:off x="6693735" y="5162543"/>
            <a:ext cx="785257" cy="21292"/>
          </a:xfrm>
          <a:prstGeom prst="line">
            <a:avLst/>
          </a:prstGeom>
          <a:ln w="66675" cap="flat">
            <a:solidFill>
              <a:srgbClr val="000000"/>
            </a:solidFill>
            <a:prstDash val="solid"/>
            <a:headEnd type="none" w="sm" len="sm"/>
            <a:tailEnd type="triangle" w="lg" len="med"/>
          </a:ln>
        </p:spPr>
      </p:sp>
      <p:graphicFrame>
        <p:nvGraphicFramePr>
          <p:cNvPr id="12" name="Object 12"/>
          <p:cNvGraphicFramePr/>
          <p:nvPr>
            <p:extLst>
              <p:ext uri="{D42A27DB-BD31-4B8C-83A1-F6EECF244321}">
                <p14:modId xmlns:p14="http://schemas.microsoft.com/office/powerpoint/2010/main" val="471514751"/>
              </p:ext>
            </p:extLst>
          </p:nvPr>
        </p:nvGraphicFramePr>
        <p:xfrm>
          <a:off x="8225984" y="2424438"/>
          <a:ext cx="3771900" cy="1257300"/>
        </p:xfrm>
        <a:graphic>
          <a:graphicData uri="http://schemas.openxmlformats.org/presentationml/2006/ole">
            <mc:AlternateContent xmlns:mc="http://schemas.openxmlformats.org/markup-compatibility/2006">
              <mc:Choice xmlns:v="urn:schemas-microsoft-com:vml" Requires="v">
                <p:oleObj spid="_x0000_s5132" name="Worksheet" r:id="rId3" imgW="4521200" imgH="2006600" progId="Excel.Sheet.12">
                  <p:embed/>
                </p:oleObj>
              </mc:Choice>
              <mc:Fallback>
                <p:oleObj name="Worksheet" r:id="rId3" imgW="4521200" imgH="2006600" progId="Excel.Sheet.12">
                  <p:embed/>
                  <p:pic>
                    <p:nvPicPr>
                      <p:cNvPr id="0" name=""/>
                      <p:cNvPicPr/>
                      <p:nvPr/>
                    </p:nvPicPr>
                    <p:blipFill>
                      <a:blip r:embed="rId4"/>
                      <a:stretch>
                        <a:fillRect/>
                      </a:stretch>
                    </p:blipFill>
                    <p:spPr>
                      <a:xfrm>
                        <a:off x="8225984" y="2424438"/>
                        <a:ext cx="3771900" cy="1257300"/>
                      </a:xfrm>
                      <a:prstGeom prst="rect">
                        <a:avLst/>
                      </a:prstGeom>
                    </p:spPr>
                  </p:pic>
                </p:oleObj>
              </mc:Fallback>
            </mc:AlternateContent>
          </a:graphicData>
        </a:graphic>
      </p:graphicFrame>
      <p:graphicFrame>
        <p:nvGraphicFramePr>
          <p:cNvPr id="13" name="Object 13"/>
          <p:cNvGraphicFramePr/>
          <p:nvPr>
            <p:extLst>
              <p:ext uri="{D42A27DB-BD31-4B8C-83A1-F6EECF244321}">
                <p14:modId xmlns:p14="http://schemas.microsoft.com/office/powerpoint/2010/main" val="3538343441"/>
              </p:ext>
            </p:extLst>
          </p:nvPr>
        </p:nvGraphicFramePr>
        <p:xfrm>
          <a:off x="8023217" y="6015872"/>
          <a:ext cx="3771900" cy="1257300"/>
        </p:xfrm>
        <a:graphic>
          <a:graphicData uri="http://schemas.openxmlformats.org/presentationml/2006/ole">
            <mc:AlternateContent xmlns:mc="http://schemas.openxmlformats.org/markup-compatibility/2006">
              <mc:Choice xmlns:v="urn:schemas-microsoft-com:vml" Requires="v">
                <p:oleObj spid="_x0000_s5133" name="Worksheet" r:id="rId5" imgW="4521200" imgH="2006600" progId="Excel.Sheet.12">
                  <p:embed/>
                </p:oleObj>
              </mc:Choice>
              <mc:Fallback>
                <p:oleObj name="Worksheet" r:id="rId5" imgW="4521200" imgH="2006600" progId="Excel.Sheet.12">
                  <p:embed/>
                  <p:pic>
                    <p:nvPicPr>
                      <p:cNvPr id="0" name=""/>
                      <p:cNvPicPr/>
                      <p:nvPr/>
                    </p:nvPicPr>
                    <p:blipFill>
                      <a:blip r:embed="rId6"/>
                      <a:stretch>
                        <a:fillRect/>
                      </a:stretch>
                    </p:blipFill>
                    <p:spPr>
                      <a:xfrm>
                        <a:off x="8023217" y="6015872"/>
                        <a:ext cx="3771900" cy="1257300"/>
                      </a:xfrm>
                      <a:prstGeom prst="rect">
                        <a:avLst/>
                      </a:prstGeom>
                    </p:spPr>
                  </p:pic>
                </p:oleObj>
              </mc:Fallback>
            </mc:AlternateContent>
          </a:graphicData>
        </a:graphic>
      </p:graphicFrame>
      <p:sp>
        <p:nvSpPr>
          <p:cNvPr id="14" name="TextBox 14"/>
          <p:cNvSpPr txBox="1"/>
          <p:nvPr/>
        </p:nvSpPr>
        <p:spPr>
          <a:xfrm>
            <a:off x="650219" y="4514850"/>
            <a:ext cx="5871550" cy="858568"/>
          </a:xfrm>
          <a:prstGeom prst="rect">
            <a:avLst/>
          </a:prstGeom>
        </p:spPr>
        <p:txBody>
          <a:bodyPr lIns="0" tIns="0" rIns="0" bIns="0" rtlCol="0" anchor="t">
            <a:spAutoFit/>
          </a:bodyPr>
          <a:lstStyle/>
          <a:p>
            <a:pPr algn="l">
              <a:lnSpc>
                <a:spcPts val="6500"/>
              </a:lnSpc>
            </a:pPr>
            <a:r>
              <a:rPr lang="es-PA" sz="6500" b="1" dirty="0">
                <a:solidFill>
                  <a:srgbClr val="FFFFFF"/>
                </a:solidFill>
                <a:latin typeface="Poppins Bold"/>
                <a:ea typeface="Poppins Bold"/>
                <a:cs typeface="Poppins Bold"/>
                <a:sym typeface="Poppins Bold"/>
              </a:rPr>
              <a:t>probabilidad</a:t>
            </a:r>
          </a:p>
        </p:txBody>
      </p:sp>
      <p:sp>
        <p:nvSpPr>
          <p:cNvPr id="15" name="TextBox 15"/>
          <p:cNvSpPr txBox="1"/>
          <p:nvPr/>
        </p:nvSpPr>
        <p:spPr>
          <a:xfrm>
            <a:off x="8290614" y="1494913"/>
            <a:ext cx="364836" cy="777832"/>
          </a:xfrm>
          <a:prstGeom prst="rect">
            <a:avLst/>
          </a:prstGeom>
        </p:spPr>
        <p:txBody>
          <a:bodyPr lIns="0" tIns="0" rIns="0" bIns="0" rtlCol="0" anchor="t">
            <a:spAutoFit/>
          </a:bodyPr>
          <a:lstStyle/>
          <a:p>
            <a:pPr algn="l">
              <a:lnSpc>
                <a:spcPts val="6397"/>
              </a:lnSpc>
            </a:pPr>
            <a:r>
              <a:rPr lang="en-US" sz="4569" b="1">
                <a:solidFill>
                  <a:srgbClr val="FFFFFF"/>
                </a:solidFill>
                <a:latin typeface="Canva Sans Bold"/>
                <a:ea typeface="Canva Sans Bold"/>
                <a:cs typeface="Canva Sans Bold"/>
                <a:sym typeface="Canva Sans Bold"/>
              </a:rPr>
              <a:t>1</a:t>
            </a:r>
          </a:p>
        </p:txBody>
      </p:sp>
      <p:sp>
        <p:nvSpPr>
          <p:cNvPr id="16" name="TextBox 16"/>
          <p:cNvSpPr txBox="1"/>
          <p:nvPr/>
        </p:nvSpPr>
        <p:spPr>
          <a:xfrm>
            <a:off x="7656150" y="620266"/>
            <a:ext cx="8812728" cy="1399283"/>
          </a:xfrm>
          <a:prstGeom prst="rect">
            <a:avLst/>
          </a:prstGeom>
        </p:spPr>
        <p:txBody>
          <a:bodyPr lIns="0" tIns="0" rIns="0" bIns="0" rtlCol="0" anchor="t">
            <a:spAutoFit/>
          </a:bodyPr>
          <a:lstStyle/>
          <a:p>
            <a:pPr marL="574320" lvl="1" indent="-287160" algn="l">
              <a:lnSpc>
                <a:spcPts val="3724"/>
              </a:lnSpc>
              <a:buFont typeface="Arial"/>
              <a:buChar char="•"/>
            </a:pPr>
            <a:r>
              <a:rPr lang="es-PA" sz="2660">
                <a:solidFill>
                  <a:srgbClr val="2B2B2B"/>
                </a:solidFill>
                <a:latin typeface="Disket Mono"/>
                <a:ea typeface="Disket Mono"/>
                <a:cs typeface="Disket Mono"/>
                <a:sym typeface="Disket Mono"/>
              </a:rPr>
              <a:t> de que el tiempo de procesamiento supere las 8 horas para datos no estructurados</a:t>
            </a:r>
          </a:p>
        </p:txBody>
      </p:sp>
      <p:sp>
        <p:nvSpPr>
          <p:cNvPr id="17" name="TextBox 17"/>
          <p:cNvSpPr txBox="1"/>
          <p:nvPr/>
        </p:nvSpPr>
        <p:spPr>
          <a:xfrm>
            <a:off x="12898506" y="2589375"/>
            <a:ext cx="2686999" cy="1042680"/>
          </a:xfrm>
          <a:prstGeom prst="rect">
            <a:avLst/>
          </a:prstGeom>
        </p:spPr>
        <p:txBody>
          <a:bodyPr lIns="0" tIns="0" rIns="0" bIns="0" rtlCol="0" anchor="t">
            <a:spAutoFit/>
          </a:bodyPr>
          <a:lstStyle/>
          <a:p>
            <a:pPr algn="l">
              <a:lnSpc>
                <a:spcPts val="7300"/>
              </a:lnSpc>
            </a:pPr>
            <a:r>
              <a:rPr lang="en-US" sz="7300" b="1" dirty="0">
                <a:solidFill>
                  <a:srgbClr val="8D0000"/>
                </a:solidFill>
                <a:latin typeface="Poppins Bold"/>
                <a:ea typeface="Poppins Bold"/>
                <a:cs typeface="Poppins Bold"/>
                <a:sym typeface="Poppins Bold"/>
              </a:rPr>
              <a:t>97%</a:t>
            </a:r>
          </a:p>
        </p:txBody>
      </p:sp>
      <p:sp>
        <p:nvSpPr>
          <p:cNvPr id="18" name="TextBox 18"/>
          <p:cNvSpPr txBox="1"/>
          <p:nvPr/>
        </p:nvSpPr>
        <p:spPr>
          <a:xfrm>
            <a:off x="7734946" y="3991881"/>
            <a:ext cx="8812728" cy="1866008"/>
          </a:xfrm>
          <a:prstGeom prst="rect">
            <a:avLst/>
          </a:prstGeom>
        </p:spPr>
        <p:txBody>
          <a:bodyPr lIns="0" tIns="0" rIns="0" bIns="0" rtlCol="0" anchor="t">
            <a:spAutoFit/>
          </a:bodyPr>
          <a:lstStyle/>
          <a:p>
            <a:pPr marL="574320" lvl="1" indent="-287160" algn="l">
              <a:lnSpc>
                <a:spcPts val="3724"/>
              </a:lnSpc>
              <a:buFont typeface="Arial"/>
              <a:buChar char="•"/>
            </a:pPr>
            <a:r>
              <a:rPr lang="en-US" sz="2660" dirty="0">
                <a:solidFill>
                  <a:srgbClr val="2B2B2B"/>
                </a:solidFill>
                <a:latin typeface="Disket Mono"/>
                <a:ea typeface="Disket Mono"/>
                <a:cs typeface="Disket Mono"/>
                <a:sym typeface="Disket Mono"/>
              </a:rPr>
              <a:t>de que un </a:t>
            </a:r>
            <a:r>
              <a:rPr lang="en-US" sz="2660" dirty="0" err="1">
                <a:solidFill>
                  <a:srgbClr val="2B2B2B"/>
                </a:solidFill>
                <a:latin typeface="Disket Mono"/>
                <a:ea typeface="Disket Mono"/>
                <a:cs typeface="Disket Mono"/>
                <a:sym typeface="Disket Mono"/>
              </a:rPr>
              <a:t>registro</a:t>
            </a:r>
            <a:r>
              <a:rPr lang="en-US" sz="2660" dirty="0">
                <a:solidFill>
                  <a:srgbClr val="2B2B2B"/>
                </a:solidFill>
                <a:latin typeface="Disket Mono"/>
                <a:ea typeface="Disket Mono"/>
                <a:cs typeface="Disket Mono"/>
                <a:sym typeface="Disket Mono"/>
              </a:rPr>
              <a:t> </a:t>
            </a:r>
            <a:r>
              <a:rPr lang="en-US" sz="2660" dirty="0" err="1">
                <a:solidFill>
                  <a:srgbClr val="2B2B2B"/>
                </a:solidFill>
                <a:latin typeface="Disket Mono"/>
                <a:ea typeface="Disket Mono"/>
                <a:cs typeface="Disket Mono"/>
                <a:sym typeface="Disket Mono"/>
              </a:rPr>
              <a:t>tenga</a:t>
            </a:r>
            <a:r>
              <a:rPr lang="en-US" sz="2660" dirty="0">
                <a:solidFill>
                  <a:srgbClr val="2B2B2B"/>
                </a:solidFill>
                <a:latin typeface="Disket Mono"/>
                <a:ea typeface="Disket Mono"/>
                <a:cs typeface="Disket Mono"/>
                <a:sym typeface="Disket Mono"/>
              </a:rPr>
              <a:t> </a:t>
            </a:r>
            <a:r>
              <a:rPr lang="en-US" sz="2660" dirty="0" err="1">
                <a:solidFill>
                  <a:srgbClr val="2B2B2B"/>
                </a:solidFill>
                <a:latin typeface="Disket Mono"/>
                <a:ea typeface="Disket Mono"/>
                <a:cs typeface="Disket Mono"/>
                <a:sym typeface="Disket Mono"/>
              </a:rPr>
              <a:t>nivel</a:t>
            </a:r>
            <a:r>
              <a:rPr lang="en-US" sz="2660" dirty="0">
                <a:solidFill>
                  <a:srgbClr val="2B2B2B"/>
                </a:solidFill>
                <a:latin typeface="Disket Mono"/>
                <a:ea typeface="Disket Mono"/>
                <a:cs typeface="Disket Mono"/>
                <a:sym typeface="Disket Mono"/>
              </a:rPr>
              <a:t> de </a:t>
            </a:r>
            <a:r>
              <a:rPr lang="es-PA" sz="2660" dirty="0">
                <a:solidFill>
                  <a:srgbClr val="2B2B2B"/>
                </a:solidFill>
                <a:latin typeface="Disket Mono"/>
                <a:ea typeface="Disket Mono"/>
                <a:cs typeface="Disket Mono"/>
                <a:sym typeface="Disket Mono"/>
              </a:rPr>
              <a:t>integración</a:t>
            </a:r>
            <a:r>
              <a:rPr lang="en-US" sz="2660" dirty="0">
                <a:solidFill>
                  <a:srgbClr val="2B2B2B"/>
                </a:solidFill>
                <a:latin typeface="Disket Mono"/>
                <a:ea typeface="Disket Mono"/>
                <a:cs typeface="Disket Mono"/>
                <a:sym typeface="Disket Mono"/>
              </a:rPr>
              <a:t> alto (4 o 5) dado que </a:t>
            </a:r>
            <a:r>
              <a:rPr lang="en-US" sz="2660" dirty="0" err="1">
                <a:solidFill>
                  <a:srgbClr val="2B2B2B"/>
                </a:solidFill>
                <a:latin typeface="Disket Mono"/>
                <a:ea typeface="Disket Mono"/>
                <a:cs typeface="Disket Mono"/>
                <a:sym typeface="Disket Mono"/>
              </a:rPr>
              <a:t>su</a:t>
            </a:r>
            <a:r>
              <a:rPr lang="en-US" sz="2660" dirty="0">
                <a:solidFill>
                  <a:srgbClr val="2B2B2B"/>
                </a:solidFill>
                <a:latin typeface="Disket Mono"/>
                <a:ea typeface="Disket Mono"/>
                <a:cs typeface="Disket Mono"/>
                <a:sym typeface="Disket Mono"/>
              </a:rPr>
              <a:t> </a:t>
            </a:r>
            <a:r>
              <a:rPr lang="en-US" sz="2660" dirty="0" err="1">
                <a:solidFill>
                  <a:srgbClr val="2B2B2B"/>
                </a:solidFill>
                <a:latin typeface="Disket Mono"/>
                <a:ea typeface="Disket Mono"/>
                <a:cs typeface="Disket Mono"/>
                <a:sym typeface="Disket Mono"/>
              </a:rPr>
              <a:t>tiempo</a:t>
            </a:r>
            <a:r>
              <a:rPr lang="en-US" sz="2660" dirty="0">
                <a:solidFill>
                  <a:srgbClr val="2B2B2B"/>
                </a:solidFill>
                <a:latin typeface="Disket Mono"/>
                <a:ea typeface="Disket Mono"/>
                <a:cs typeface="Disket Mono"/>
                <a:sym typeface="Disket Mono"/>
              </a:rPr>
              <a:t> de </a:t>
            </a:r>
            <a:r>
              <a:rPr lang="en-US" sz="2660" dirty="0" err="1">
                <a:solidFill>
                  <a:srgbClr val="2B2B2B"/>
                </a:solidFill>
                <a:latin typeface="Disket Mono"/>
                <a:ea typeface="Disket Mono"/>
                <a:cs typeface="Disket Mono"/>
                <a:sym typeface="Disket Mono"/>
              </a:rPr>
              <a:t>procesamiento</a:t>
            </a:r>
            <a:r>
              <a:rPr lang="en-US" sz="2660" dirty="0">
                <a:solidFill>
                  <a:srgbClr val="2B2B2B"/>
                </a:solidFill>
                <a:latin typeface="Disket Mono"/>
                <a:ea typeface="Disket Mono"/>
                <a:cs typeface="Disket Mono"/>
                <a:sym typeface="Disket Mono"/>
              </a:rPr>
              <a:t> es </a:t>
            </a:r>
            <a:r>
              <a:rPr lang="en-US" sz="2660" dirty="0" err="1">
                <a:solidFill>
                  <a:srgbClr val="2B2B2B"/>
                </a:solidFill>
                <a:latin typeface="Disket Mono"/>
                <a:ea typeface="Disket Mono"/>
                <a:cs typeface="Disket Mono"/>
                <a:sym typeface="Disket Mono"/>
              </a:rPr>
              <a:t>menor</a:t>
            </a:r>
            <a:r>
              <a:rPr lang="en-US" sz="2660" dirty="0">
                <a:solidFill>
                  <a:srgbClr val="2B2B2B"/>
                </a:solidFill>
                <a:latin typeface="Disket Mono"/>
                <a:ea typeface="Disket Mono"/>
                <a:cs typeface="Disket Mono"/>
                <a:sym typeface="Disket Mono"/>
              </a:rPr>
              <a:t> a 8 horas</a:t>
            </a:r>
          </a:p>
        </p:txBody>
      </p:sp>
      <p:sp>
        <p:nvSpPr>
          <p:cNvPr id="19" name="TextBox 19"/>
          <p:cNvSpPr txBox="1"/>
          <p:nvPr/>
        </p:nvSpPr>
        <p:spPr>
          <a:xfrm>
            <a:off x="13045748" y="6294768"/>
            <a:ext cx="2686999" cy="1042680"/>
          </a:xfrm>
          <a:prstGeom prst="rect">
            <a:avLst/>
          </a:prstGeom>
        </p:spPr>
        <p:txBody>
          <a:bodyPr lIns="0" tIns="0" rIns="0" bIns="0" rtlCol="0" anchor="t">
            <a:spAutoFit/>
          </a:bodyPr>
          <a:lstStyle/>
          <a:p>
            <a:pPr algn="l">
              <a:lnSpc>
                <a:spcPts val="7300"/>
              </a:lnSpc>
            </a:pPr>
            <a:r>
              <a:rPr lang="en-US" sz="7300" b="1" dirty="0">
                <a:solidFill>
                  <a:srgbClr val="8D0000"/>
                </a:solidFill>
                <a:latin typeface="Poppins Bold"/>
                <a:ea typeface="Poppins Bold"/>
                <a:cs typeface="Poppins Bold"/>
                <a:sym typeface="Poppins Bold"/>
              </a:rPr>
              <a:t>13%</a:t>
            </a:r>
          </a:p>
        </p:txBody>
      </p:sp>
      <p:sp>
        <p:nvSpPr>
          <p:cNvPr id="20" name="TextBox 20"/>
          <p:cNvSpPr txBox="1"/>
          <p:nvPr/>
        </p:nvSpPr>
        <p:spPr>
          <a:xfrm>
            <a:off x="11746966" y="2710705"/>
            <a:ext cx="858132" cy="1042680"/>
          </a:xfrm>
          <a:prstGeom prst="rect">
            <a:avLst/>
          </a:prstGeom>
        </p:spPr>
        <p:txBody>
          <a:bodyPr lIns="0" tIns="0" rIns="0" bIns="0" rtlCol="0" anchor="t">
            <a:spAutoFit/>
          </a:bodyPr>
          <a:lstStyle/>
          <a:p>
            <a:pPr algn="l">
              <a:lnSpc>
                <a:spcPts val="7300"/>
              </a:lnSpc>
            </a:pPr>
            <a:r>
              <a:rPr lang="en-US" sz="7300" b="1" dirty="0">
                <a:solidFill>
                  <a:srgbClr val="8D0000"/>
                </a:solidFill>
                <a:latin typeface="Poppins Bold"/>
                <a:ea typeface="Poppins Bold"/>
                <a:cs typeface="Poppins Bold"/>
                <a:sym typeface="Poppins Bold"/>
              </a:rPr>
              <a:t>=</a:t>
            </a:r>
          </a:p>
        </p:txBody>
      </p:sp>
      <p:sp>
        <p:nvSpPr>
          <p:cNvPr id="21" name="TextBox 21"/>
          <p:cNvSpPr txBox="1"/>
          <p:nvPr/>
        </p:nvSpPr>
        <p:spPr>
          <a:xfrm>
            <a:off x="11987362" y="6294768"/>
            <a:ext cx="858132" cy="1042680"/>
          </a:xfrm>
          <a:prstGeom prst="rect">
            <a:avLst/>
          </a:prstGeom>
        </p:spPr>
        <p:txBody>
          <a:bodyPr lIns="0" tIns="0" rIns="0" bIns="0" rtlCol="0" anchor="t">
            <a:spAutoFit/>
          </a:bodyPr>
          <a:lstStyle/>
          <a:p>
            <a:pPr algn="l">
              <a:lnSpc>
                <a:spcPts val="7300"/>
              </a:lnSpc>
            </a:pPr>
            <a:r>
              <a:rPr lang="en-US" sz="7300" b="1" dirty="0">
                <a:solidFill>
                  <a:srgbClr val="8D0000"/>
                </a:solidFill>
                <a:latin typeface="Poppins Bold"/>
                <a:ea typeface="Poppins Bold"/>
                <a:cs typeface="Poppins Bold"/>
                <a:sym typeface="Poppins Bold"/>
              </a:rPr>
              <a:t>=</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851927" y="2356488"/>
            <a:ext cx="8918179" cy="19050"/>
          </a:xfrm>
          <a:prstGeom prst="line">
            <a:avLst/>
          </a:prstGeom>
          <a:ln w="28575" cap="flat">
            <a:solidFill>
              <a:srgbClr val="000000"/>
            </a:solidFill>
            <a:prstDash val="solid"/>
            <a:headEnd type="none" w="sm" len="sm"/>
            <a:tailEnd type="none" w="sm" len="sm"/>
          </a:ln>
        </p:spPr>
      </p:sp>
      <p:graphicFrame>
        <p:nvGraphicFramePr>
          <p:cNvPr id="3" name="Object 3"/>
          <p:cNvGraphicFramePr/>
          <p:nvPr>
            <p:extLst>
              <p:ext uri="{D42A27DB-BD31-4B8C-83A1-F6EECF244321}">
                <p14:modId xmlns:p14="http://schemas.microsoft.com/office/powerpoint/2010/main" val="3959248803"/>
              </p:ext>
            </p:extLst>
          </p:nvPr>
        </p:nvGraphicFramePr>
        <p:xfrm>
          <a:off x="2498725" y="2959100"/>
          <a:ext cx="11739563" cy="4138613"/>
        </p:xfrm>
        <a:graphic>
          <a:graphicData uri="http://schemas.openxmlformats.org/presentationml/2006/ole">
            <mc:AlternateContent xmlns:mc="http://schemas.openxmlformats.org/markup-compatibility/2006">
              <mc:Choice xmlns:v="urn:schemas-microsoft-com:vml" Requires="v">
                <p:oleObj spid="_x0000_s6151" name="Worksheet" r:id="rId3" imgW="14319090" imgH="4959438" progId="Excel.Sheet.12">
                  <p:embed/>
                </p:oleObj>
              </mc:Choice>
              <mc:Fallback>
                <p:oleObj name="Worksheet" r:id="rId3" imgW="14319090" imgH="4959438" progId="Excel.Sheet.12">
                  <p:embed/>
                  <p:pic>
                    <p:nvPicPr>
                      <p:cNvPr id="0" name=""/>
                      <p:cNvPicPr/>
                      <p:nvPr/>
                    </p:nvPicPr>
                    <p:blipFill>
                      <a:blip r:embed="rId4"/>
                      <a:stretch>
                        <a:fillRect/>
                      </a:stretch>
                    </p:blipFill>
                    <p:spPr>
                      <a:xfrm>
                        <a:off x="2498725" y="2959100"/>
                        <a:ext cx="11739563" cy="4138613"/>
                      </a:xfrm>
                      <a:prstGeom prst="rect">
                        <a:avLst/>
                      </a:prstGeom>
                    </p:spPr>
                  </p:pic>
                </p:oleObj>
              </mc:Fallback>
            </mc:AlternateContent>
          </a:graphicData>
        </a:graphic>
      </p:graphicFrame>
      <p:sp>
        <p:nvSpPr>
          <p:cNvPr id="4" name="TextBox 4"/>
          <p:cNvSpPr txBox="1"/>
          <p:nvPr/>
        </p:nvSpPr>
        <p:spPr>
          <a:xfrm>
            <a:off x="343526" y="1415758"/>
            <a:ext cx="4975315" cy="869325"/>
          </a:xfrm>
          <a:prstGeom prst="rect">
            <a:avLst/>
          </a:prstGeom>
        </p:spPr>
        <p:txBody>
          <a:bodyPr lIns="0" tIns="0" rIns="0" bIns="0" rtlCol="0" anchor="t">
            <a:spAutoFit/>
          </a:bodyPr>
          <a:lstStyle/>
          <a:p>
            <a:pPr algn="l">
              <a:lnSpc>
                <a:spcPts val="6100"/>
              </a:lnSpc>
            </a:pPr>
            <a:r>
              <a:rPr lang="en-US" sz="6100" b="1" dirty="0" err="1">
                <a:solidFill>
                  <a:srgbClr val="000000"/>
                </a:solidFill>
                <a:latin typeface="Poppins Bold"/>
                <a:ea typeface="Poppins Bold"/>
                <a:cs typeface="Poppins Bold"/>
                <a:sym typeface="Poppins Bold"/>
              </a:rPr>
              <a:t>Teorema</a:t>
            </a:r>
            <a:r>
              <a:rPr lang="en-US" sz="6100" b="1" dirty="0">
                <a:solidFill>
                  <a:srgbClr val="000000"/>
                </a:solidFill>
                <a:latin typeface="Poppins Bold"/>
                <a:ea typeface="Poppins Bold"/>
                <a:cs typeface="Poppins Bold"/>
                <a:sym typeface="Poppins Bold"/>
              </a:rPr>
              <a:t> de</a:t>
            </a:r>
          </a:p>
        </p:txBody>
      </p:sp>
      <p:sp>
        <p:nvSpPr>
          <p:cNvPr id="5" name="TextBox 5"/>
          <p:cNvSpPr txBox="1"/>
          <p:nvPr/>
        </p:nvSpPr>
        <p:spPr>
          <a:xfrm>
            <a:off x="5318840" y="1371593"/>
            <a:ext cx="3723656" cy="984895"/>
          </a:xfrm>
          <a:prstGeom prst="rect">
            <a:avLst/>
          </a:prstGeom>
        </p:spPr>
        <p:txBody>
          <a:bodyPr lIns="0" tIns="0" rIns="0" bIns="0" rtlCol="0" anchor="t">
            <a:spAutoFit/>
          </a:bodyPr>
          <a:lstStyle/>
          <a:p>
            <a:pPr algn="l">
              <a:lnSpc>
                <a:spcPts val="6900"/>
              </a:lnSpc>
            </a:pPr>
            <a:r>
              <a:rPr lang="en-US" sz="6900" b="1">
                <a:solidFill>
                  <a:srgbClr val="8D0000"/>
                </a:solidFill>
                <a:latin typeface="Poppins Bold"/>
                <a:ea typeface="Poppins Bold"/>
                <a:cs typeface="Poppins Bold"/>
                <a:sym typeface="Poppins Bold"/>
              </a:rPr>
              <a:t>BAYES</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p:nvPr>
            <p:extLst>
              <p:ext uri="{D42A27DB-BD31-4B8C-83A1-F6EECF244321}">
                <p14:modId xmlns:p14="http://schemas.microsoft.com/office/powerpoint/2010/main" val="1417361405"/>
              </p:ext>
            </p:extLst>
          </p:nvPr>
        </p:nvGraphicFramePr>
        <p:xfrm>
          <a:off x="7419609" y="1177694"/>
          <a:ext cx="9801591" cy="5465763"/>
        </p:xfrm>
        <a:graphic>
          <a:graphicData uri="http://schemas.openxmlformats.org/presentationml/2006/ole">
            <mc:AlternateContent xmlns:mc="http://schemas.openxmlformats.org/markup-compatibility/2006">
              <mc:Choice xmlns:v="urn:schemas-microsoft-com:vml" Requires="v">
                <p:oleObj spid="_x0000_s7175" name="Worksheet" r:id="rId3" imgW="13842852" imgH="6737394" progId="Excel.Sheet.12">
                  <p:embed/>
                </p:oleObj>
              </mc:Choice>
              <mc:Fallback>
                <p:oleObj name="Worksheet" r:id="rId3" imgW="13842852" imgH="6737394" progId="Excel.Sheet.12">
                  <p:embed/>
                  <p:pic>
                    <p:nvPicPr>
                      <p:cNvPr id="0" name=""/>
                      <p:cNvPicPr/>
                      <p:nvPr/>
                    </p:nvPicPr>
                    <p:blipFill>
                      <a:blip r:embed="rId4"/>
                      <a:stretch>
                        <a:fillRect/>
                      </a:stretch>
                    </p:blipFill>
                    <p:spPr>
                      <a:xfrm>
                        <a:off x="7419609" y="1177694"/>
                        <a:ext cx="9801591" cy="5465763"/>
                      </a:xfrm>
                      <a:prstGeom prst="rect">
                        <a:avLst/>
                      </a:prstGeom>
                    </p:spPr>
                  </p:pic>
                </p:oleObj>
              </mc:Fallback>
            </mc:AlternateContent>
          </a:graphicData>
        </a:graphic>
      </p:graphicFrame>
      <p:grpSp>
        <p:nvGrpSpPr>
          <p:cNvPr id="3" name="Group 3"/>
          <p:cNvGrpSpPr/>
          <p:nvPr/>
        </p:nvGrpSpPr>
        <p:grpSpPr>
          <a:xfrm>
            <a:off x="-290348" y="1443838"/>
            <a:ext cx="7167241" cy="4933476"/>
            <a:chOff x="0" y="0"/>
            <a:chExt cx="1887668" cy="1299352"/>
          </a:xfrm>
        </p:grpSpPr>
        <p:sp>
          <p:nvSpPr>
            <p:cNvPr id="4" name="Freeform 4"/>
            <p:cNvSpPr/>
            <p:nvPr/>
          </p:nvSpPr>
          <p:spPr>
            <a:xfrm>
              <a:off x="0" y="0"/>
              <a:ext cx="1887668" cy="1299352"/>
            </a:xfrm>
            <a:custGeom>
              <a:avLst/>
              <a:gdLst/>
              <a:ahLst/>
              <a:cxnLst/>
              <a:rect l="l" t="t" r="r" b="b"/>
              <a:pathLst>
                <a:path w="1887668" h="1299352">
                  <a:moveTo>
                    <a:pt x="55089" y="0"/>
                  </a:moveTo>
                  <a:lnTo>
                    <a:pt x="1832579" y="0"/>
                  </a:lnTo>
                  <a:cubicBezTo>
                    <a:pt x="1863004" y="0"/>
                    <a:pt x="1887668" y="24664"/>
                    <a:pt x="1887668" y="55089"/>
                  </a:cubicBezTo>
                  <a:lnTo>
                    <a:pt x="1887668" y="1244263"/>
                  </a:lnTo>
                  <a:cubicBezTo>
                    <a:pt x="1887668" y="1258873"/>
                    <a:pt x="1881864" y="1272885"/>
                    <a:pt x="1871533" y="1283217"/>
                  </a:cubicBezTo>
                  <a:cubicBezTo>
                    <a:pt x="1861202" y="1293548"/>
                    <a:pt x="1847190" y="1299352"/>
                    <a:pt x="1832579" y="1299352"/>
                  </a:cubicBezTo>
                  <a:lnTo>
                    <a:pt x="55089" y="1299352"/>
                  </a:lnTo>
                  <a:cubicBezTo>
                    <a:pt x="24664" y="1299352"/>
                    <a:pt x="0" y="1274688"/>
                    <a:pt x="0" y="1244263"/>
                  </a:cubicBezTo>
                  <a:lnTo>
                    <a:pt x="0" y="55089"/>
                  </a:lnTo>
                  <a:cubicBezTo>
                    <a:pt x="0" y="24664"/>
                    <a:pt x="24664" y="0"/>
                    <a:pt x="55089" y="0"/>
                  </a:cubicBezTo>
                  <a:close/>
                </a:path>
              </a:pathLst>
            </a:custGeom>
            <a:solidFill>
              <a:srgbClr val="8D0000"/>
            </a:solidFill>
          </p:spPr>
        </p:sp>
        <p:sp>
          <p:nvSpPr>
            <p:cNvPr id="5" name="TextBox 5"/>
            <p:cNvSpPr txBox="1"/>
            <p:nvPr/>
          </p:nvSpPr>
          <p:spPr>
            <a:xfrm>
              <a:off x="0" y="-333375"/>
              <a:ext cx="1887668" cy="1632727"/>
            </a:xfrm>
            <a:prstGeom prst="rect">
              <a:avLst/>
            </a:prstGeom>
          </p:spPr>
          <p:txBody>
            <a:bodyPr lIns="50800" tIns="50800" rIns="50800" bIns="50800" rtlCol="0" anchor="ctr"/>
            <a:lstStyle/>
            <a:p>
              <a:pPr algn="ctr">
                <a:lnSpc>
                  <a:spcPts val="6249"/>
                </a:lnSpc>
              </a:pPr>
              <a:endParaRPr/>
            </a:p>
          </p:txBody>
        </p:sp>
      </p:grpSp>
      <p:sp>
        <p:nvSpPr>
          <p:cNvPr id="6" name="TextBox 6"/>
          <p:cNvSpPr txBox="1"/>
          <p:nvPr/>
        </p:nvSpPr>
        <p:spPr>
          <a:xfrm>
            <a:off x="252368" y="2246871"/>
            <a:ext cx="6624525" cy="3384560"/>
          </a:xfrm>
          <a:prstGeom prst="rect">
            <a:avLst/>
          </a:prstGeom>
        </p:spPr>
        <p:txBody>
          <a:bodyPr lIns="0" tIns="0" rIns="0" bIns="0" rtlCol="0" anchor="t">
            <a:spAutoFit/>
          </a:bodyPr>
          <a:lstStyle/>
          <a:p>
            <a:pPr algn="ctr">
              <a:lnSpc>
                <a:spcPts val="6500"/>
              </a:lnSpc>
            </a:pPr>
            <a:r>
              <a:rPr lang="en-US" sz="6500" b="1">
                <a:solidFill>
                  <a:srgbClr val="FFFFFF"/>
                </a:solidFill>
                <a:latin typeface="Poppins Bold"/>
                <a:ea typeface="Poppins Bold"/>
                <a:cs typeface="Poppins Bold"/>
                <a:sym typeface="Poppins Bold"/>
              </a:rPr>
              <a:t> Independencia de no Estructurados y Tiempo&gt;8h</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38200" y="254091"/>
            <a:ext cx="15925800" cy="3587168"/>
            <a:chOff x="0" y="0"/>
            <a:chExt cx="5570501" cy="944768"/>
          </a:xfrm>
        </p:grpSpPr>
        <p:sp>
          <p:nvSpPr>
            <p:cNvPr id="3" name="Freeform 3"/>
            <p:cNvSpPr/>
            <p:nvPr/>
          </p:nvSpPr>
          <p:spPr>
            <a:xfrm>
              <a:off x="0" y="0"/>
              <a:ext cx="5570501" cy="944768"/>
            </a:xfrm>
            <a:custGeom>
              <a:avLst/>
              <a:gdLst/>
              <a:ahLst/>
              <a:cxnLst/>
              <a:rect l="l" t="t" r="r" b="b"/>
              <a:pathLst>
                <a:path w="5570501" h="944768">
                  <a:moveTo>
                    <a:pt x="18668" y="0"/>
                  </a:moveTo>
                  <a:lnTo>
                    <a:pt x="5551833" y="0"/>
                  </a:lnTo>
                  <a:cubicBezTo>
                    <a:pt x="5562143" y="0"/>
                    <a:pt x="5570501" y="8358"/>
                    <a:pt x="5570501" y="18668"/>
                  </a:cubicBezTo>
                  <a:lnTo>
                    <a:pt x="5570501" y="926100"/>
                  </a:lnTo>
                  <a:cubicBezTo>
                    <a:pt x="5570501" y="936410"/>
                    <a:pt x="5562143" y="944768"/>
                    <a:pt x="5551833" y="944768"/>
                  </a:cubicBezTo>
                  <a:lnTo>
                    <a:pt x="18668" y="944768"/>
                  </a:lnTo>
                  <a:cubicBezTo>
                    <a:pt x="8358" y="944768"/>
                    <a:pt x="0" y="936410"/>
                    <a:pt x="0" y="926100"/>
                  </a:cubicBezTo>
                  <a:lnTo>
                    <a:pt x="0" y="18668"/>
                  </a:lnTo>
                  <a:cubicBezTo>
                    <a:pt x="0" y="8358"/>
                    <a:pt x="8358" y="0"/>
                    <a:pt x="18668" y="0"/>
                  </a:cubicBezTo>
                  <a:close/>
                </a:path>
              </a:pathLst>
            </a:custGeom>
            <a:solidFill>
              <a:srgbClr val="8D0000"/>
            </a:solidFill>
          </p:spPr>
        </p:sp>
        <p:sp>
          <p:nvSpPr>
            <p:cNvPr id="4" name="TextBox 4"/>
            <p:cNvSpPr txBox="1"/>
            <p:nvPr/>
          </p:nvSpPr>
          <p:spPr>
            <a:xfrm>
              <a:off x="0" y="-333375"/>
              <a:ext cx="5570501" cy="1278143"/>
            </a:xfrm>
            <a:prstGeom prst="rect">
              <a:avLst/>
            </a:prstGeom>
          </p:spPr>
          <p:txBody>
            <a:bodyPr lIns="50800" tIns="50800" rIns="50800" bIns="50800" rtlCol="0" anchor="ctr"/>
            <a:lstStyle/>
            <a:p>
              <a:pPr algn="ctr">
                <a:lnSpc>
                  <a:spcPts val="6249"/>
                </a:lnSpc>
              </a:pPr>
              <a:endParaRPr/>
            </a:p>
          </p:txBody>
        </p:sp>
      </p:grpSp>
      <p:graphicFrame>
        <p:nvGraphicFramePr>
          <p:cNvPr id="5" name="Object 5"/>
          <p:cNvGraphicFramePr/>
          <p:nvPr>
            <p:extLst>
              <p:ext uri="{D42A27DB-BD31-4B8C-83A1-F6EECF244321}">
                <p14:modId xmlns:p14="http://schemas.microsoft.com/office/powerpoint/2010/main" val="3044820816"/>
              </p:ext>
            </p:extLst>
          </p:nvPr>
        </p:nvGraphicFramePr>
        <p:xfrm>
          <a:off x="3048000" y="4559300"/>
          <a:ext cx="12852400" cy="4530725"/>
        </p:xfrm>
        <a:graphic>
          <a:graphicData uri="http://schemas.openxmlformats.org/presentationml/2006/ole">
            <mc:AlternateContent xmlns:mc="http://schemas.openxmlformats.org/markup-compatibility/2006">
              <mc:Choice xmlns:v="urn:schemas-microsoft-com:vml" Requires="v">
                <p:oleObj spid="_x0000_s8199" name="Worksheet" r:id="rId3" imgW="15411635" imgH="6559638" progId="Excel.Sheet.12">
                  <p:embed/>
                </p:oleObj>
              </mc:Choice>
              <mc:Fallback>
                <p:oleObj name="Worksheet" r:id="rId3" imgW="15411635" imgH="6559638" progId="Excel.Sheet.12">
                  <p:embed/>
                  <p:pic>
                    <p:nvPicPr>
                      <p:cNvPr id="0" name=""/>
                      <p:cNvPicPr/>
                      <p:nvPr/>
                    </p:nvPicPr>
                    <p:blipFill>
                      <a:blip r:embed="rId4"/>
                      <a:stretch>
                        <a:fillRect/>
                      </a:stretch>
                    </p:blipFill>
                    <p:spPr>
                      <a:xfrm>
                        <a:off x="3048000" y="4559300"/>
                        <a:ext cx="12852400" cy="4530725"/>
                      </a:xfrm>
                      <a:prstGeom prst="rect">
                        <a:avLst/>
                      </a:prstGeom>
                    </p:spPr>
                  </p:pic>
                </p:oleObj>
              </mc:Fallback>
            </mc:AlternateContent>
          </a:graphicData>
        </a:graphic>
      </p:graphicFrame>
      <p:sp>
        <p:nvSpPr>
          <p:cNvPr id="6" name="TextBox 6"/>
          <p:cNvSpPr txBox="1"/>
          <p:nvPr/>
        </p:nvSpPr>
        <p:spPr>
          <a:xfrm>
            <a:off x="-134859" y="1203120"/>
            <a:ext cx="18557717" cy="1746260"/>
          </a:xfrm>
          <a:prstGeom prst="rect">
            <a:avLst/>
          </a:prstGeom>
        </p:spPr>
        <p:txBody>
          <a:bodyPr lIns="0" tIns="0" rIns="0" bIns="0" rtlCol="0" anchor="t">
            <a:spAutoFit/>
          </a:bodyPr>
          <a:lstStyle/>
          <a:p>
            <a:pPr algn="ctr">
              <a:lnSpc>
                <a:spcPts val="6500"/>
              </a:lnSpc>
            </a:pPr>
            <a:r>
              <a:rPr lang="es-PA" sz="6500" b="1">
                <a:solidFill>
                  <a:srgbClr val="FFFFFF"/>
                </a:solidFill>
                <a:latin typeface="Poppins Bold"/>
                <a:ea typeface="Poppins Bold"/>
                <a:cs typeface="Poppins Bold"/>
                <a:sym typeface="Poppins Bold"/>
              </a:rPr>
              <a:t>Comparación con estándares de la industria</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p:nvPr/>
        </p:nvSpPr>
        <p:spPr>
          <a:xfrm>
            <a:off x="-1753826" y="2331118"/>
            <a:ext cx="8918179" cy="19050"/>
          </a:xfrm>
          <a:prstGeom prst="line">
            <a:avLst/>
          </a:prstGeom>
          <a:ln w="28575" cap="flat">
            <a:solidFill>
              <a:srgbClr val="000000"/>
            </a:solidFill>
            <a:prstDash val="solid"/>
            <a:headEnd type="none" w="sm" len="sm"/>
            <a:tailEnd type="none" w="sm" len="sm"/>
          </a:ln>
        </p:spPr>
      </p:sp>
      <p:grpSp>
        <p:nvGrpSpPr>
          <p:cNvPr id="6" name="Group 6"/>
          <p:cNvGrpSpPr/>
          <p:nvPr/>
        </p:nvGrpSpPr>
        <p:grpSpPr>
          <a:xfrm>
            <a:off x="-1753856" y="9614819"/>
            <a:ext cx="5565113" cy="672181"/>
            <a:chOff x="0" y="0"/>
            <a:chExt cx="1465709" cy="177035"/>
          </a:xfrm>
        </p:grpSpPr>
        <p:sp>
          <p:nvSpPr>
            <p:cNvPr id="7" name="Freeform 7"/>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D0000"/>
            </a:solidFill>
          </p:spPr>
        </p:sp>
        <p:sp>
          <p:nvSpPr>
            <p:cNvPr id="8" name="TextBox 8"/>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grpSp>
        <p:nvGrpSpPr>
          <p:cNvPr id="9" name="Group 9"/>
          <p:cNvGrpSpPr/>
          <p:nvPr/>
        </p:nvGrpSpPr>
        <p:grpSpPr>
          <a:xfrm>
            <a:off x="14476744" y="0"/>
            <a:ext cx="5565113" cy="672181"/>
            <a:chOff x="0" y="0"/>
            <a:chExt cx="1465709" cy="177035"/>
          </a:xfrm>
        </p:grpSpPr>
        <p:sp>
          <p:nvSpPr>
            <p:cNvPr id="10" name="Freeform 10"/>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D0000"/>
            </a:solidFill>
          </p:spPr>
        </p:sp>
        <p:sp>
          <p:nvSpPr>
            <p:cNvPr id="11" name="TextBox 11"/>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graphicFrame>
        <p:nvGraphicFramePr>
          <p:cNvPr id="12" name="Object 12"/>
          <p:cNvGraphicFramePr/>
          <p:nvPr>
            <p:extLst>
              <p:ext uri="{D42A27DB-BD31-4B8C-83A1-F6EECF244321}">
                <p14:modId xmlns:p14="http://schemas.microsoft.com/office/powerpoint/2010/main" val="3078191727"/>
              </p:ext>
            </p:extLst>
          </p:nvPr>
        </p:nvGraphicFramePr>
        <p:xfrm>
          <a:off x="4341813" y="3257550"/>
          <a:ext cx="14603412" cy="5172075"/>
        </p:xfrm>
        <a:graphic>
          <a:graphicData uri="http://schemas.openxmlformats.org/presentationml/2006/ole">
            <mc:AlternateContent xmlns:mc="http://schemas.openxmlformats.org/markup-compatibility/2006">
              <mc:Choice xmlns:v="urn:schemas-microsoft-com:vml" Requires="v">
                <p:oleObj spid="_x0000_s9223" name="Worksheet" r:id="rId3" imgW="17513473" imgH="7054675" progId="Excel.Sheet.12">
                  <p:embed/>
                </p:oleObj>
              </mc:Choice>
              <mc:Fallback>
                <p:oleObj name="Worksheet" r:id="rId3" imgW="17513473" imgH="7054675" progId="Excel.Sheet.12">
                  <p:embed/>
                  <p:pic>
                    <p:nvPicPr>
                      <p:cNvPr id="0" name=""/>
                      <p:cNvPicPr/>
                      <p:nvPr/>
                    </p:nvPicPr>
                    <p:blipFill>
                      <a:blip r:embed="rId4"/>
                      <a:stretch>
                        <a:fillRect/>
                      </a:stretch>
                    </p:blipFill>
                    <p:spPr>
                      <a:xfrm>
                        <a:off x="4341813" y="3257550"/>
                        <a:ext cx="14603412" cy="5172075"/>
                      </a:xfrm>
                      <a:prstGeom prst="rect">
                        <a:avLst/>
                      </a:prstGeom>
                    </p:spPr>
                  </p:pic>
                </p:oleObj>
              </mc:Fallback>
            </mc:AlternateContent>
          </a:graphicData>
        </a:graphic>
      </p:graphicFrame>
      <p:sp>
        <p:nvSpPr>
          <p:cNvPr id="13" name="TextBox 13"/>
          <p:cNvSpPr txBox="1"/>
          <p:nvPr/>
        </p:nvSpPr>
        <p:spPr>
          <a:xfrm>
            <a:off x="777677" y="529306"/>
            <a:ext cx="7643423" cy="1787525"/>
          </a:xfrm>
          <a:prstGeom prst="rect">
            <a:avLst/>
          </a:prstGeom>
        </p:spPr>
        <p:txBody>
          <a:bodyPr lIns="0" tIns="0" rIns="0" bIns="0" rtlCol="0" anchor="t">
            <a:spAutoFit/>
          </a:bodyPr>
          <a:lstStyle/>
          <a:p>
            <a:pPr algn="l">
              <a:lnSpc>
                <a:spcPts val="7000"/>
              </a:lnSpc>
            </a:pPr>
            <a:r>
              <a:rPr lang="en-US" sz="5000" b="1" spc="470">
                <a:solidFill>
                  <a:srgbClr val="8D0000"/>
                </a:solidFill>
                <a:latin typeface="Poppins Bold"/>
                <a:ea typeface="Poppins Bold"/>
                <a:cs typeface="Poppins Bold"/>
                <a:sym typeface="Poppins Bold"/>
              </a:rPr>
              <a:t> SLA CLIENTE: </a:t>
            </a:r>
            <a:r>
              <a:rPr lang="en-US" sz="5000" b="1" spc="470">
                <a:solidFill>
                  <a:srgbClr val="2B2B2B"/>
                </a:solidFill>
                <a:latin typeface="Poppins Bold"/>
                <a:ea typeface="Poppins Bold"/>
                <a:cs typeface="Poppins Bold"/>
                <a:sym typeface="Poppins Bold"/>
              </a:rPr>
              <a:t>TIEMPO ≤ 3.5 HORAS</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488981" y="356519"/>
            <a:ext cx="5565113" cy="672181"/>
            <a:chOff x="0" y="0"/>
            <a:chExt cx="1465709" cy="177035"/>
          </a:xfrm>
        </p:grpSpPr>
        <p:sp>
          <p:nvSpPr>
            <p:cNvPr id="3" name="Freeform 3"/>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D0000"/>
            </a:solidFill>
          </p:spPr>
        </p:sp>
        <p:sp>
          <p:nvSpPr>
            <p:cNvPr id="4" name="TextBox 4"/>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grpSp>
        <p:nvGrpSpPr>
          <p:cNvPr id="5" name="Group 5"/>
          <p:cNvGrpSpPr/>
          <p:nvPr/>
        </p:nvGrpSpPr>
        <p:grpSpPr>
          <a:xfrm>
            <a:off x="14476744" y="9258300"/>
            <a:ext cx="5565113" cy="672181"/>
            <a:chOff x="0" y="0"/>
            <a:chExt cx="1465709" cy="177035"/>
          </a:xfrm>
        </p:grpSpPr>
        <p:sp>
          <p:nvSpPr>
            <p:cNvPr id="6" name="Freeform 6"/>
            <p:cNvSpPr/>
            <p:nvPr/>
          </p:nvSpPr>
          <p:spPr>
            <a:xfrm>
              <a:off x="0" y="0"/>
              <a:ext cx="1465709" cy="177035"/>
            </a:xfrm>
            <a:custGeom>
              <a:avLst/>
              <a:gdLst/>
              <a:ahLst/>
              <a:cxnLst/>
              <a:rect l="l" t="t" r="r" b="b"/>
              <a:pathLst>
                <a:path w="1465709" h="177035">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D0000"/>
            </a:solidFill>
          </p:spPr>
        </p:sp>
        <p:sp>
          <p:nvSpPr>
            <p:cNvPr id="7" name="TextBox 7"/>
            <p:cNvSpPr txBox="1"/>
            <p:nvPr/>
          </p:nvSpPr>
          <p:spPr>
            <a:xfrm>
              <a:off x="0" y="-333375"/>
              <a:ext cx="1465709" cy="510410"/>
            </a:xfrm>
            <a:prstGeom prst="rect">
              <a:avLst/>
            </a:prstGeom>
          </p:spPr>
          <p:txBody>
            <a:bodyPr lIns="50800" tIns="50800" rIns="50800" bIns="50800" rtlCol="0" anchor="ctr"/>
            <a:lstStyle/>
            <a:p>
              <a:pPr algn="ctr">
                <a:lnSpc>
                  <a:spcPts val="6249"/>
                </a:lnSpc>
              </a:pPr>
              <a:endParaRPr/>
            </a:p>
          </p:txBody>
        </p:sp>
      </p:grpSp>
      <p:sp>
        <p:nvSpPr>
          <p:cNvPr id="8" name="AutoShape 8"/>
          <p:cNvSpPr/>
          <p:nvPr/>
        </p:nvSpPr>
        <p:spPr>
          <a:xfrm>
            <a:off x="4684910" y="1554213"/>
            <a:ext cx="8918179" cy="19050"/>
          </a:xfrm>
          <a:prstGeom prst="line">
            <a:avLst/>
          </a:prstGeom>
          <a:ln w="28575" cap="flat">
            <a:solidFill>
              <a:srgbClr val="000000"/>
            </a:solidFill>
            <a:prstDash val="solid"/>
            <a:headEnd type="none" w="sm" len="sm"/>
            <a:tailEnd type="none" w="sm" len="sm"/>
          </a:ln>
        </p:spPr>
      </p:sp>
      <p:sp>
        <p:nvSpPr>
          <p:cNvPr id="9" name="Freeform 9"/>
          <p:cNvSpPr/>
          <p:nvPr/>
        </p:nvSpPr>
        <p:spPr>
          <a:xfrm>
            <a:off x="914400" y="1959435"/>
            <a:ext cx="15965566" cy="5925541"/>
          </a:xfrm>
          <a:custGeom>
            <a:avLst/>
            <a:gdLst/>
            <a:ahLst/>
            <a:cxnLst/>
            <a:rect l="l" t="t" r="r" b="b"/>
            <a:pathLst>
              <a:path w="15965566" h="5925541">
                <a:moveTo>
                  <a:pt x="0" y="0"/>
                </a:moveTo>
                <a:lnTo>
                  <a:pt x="15965566" y="0"/>
                </a:lnTo>
                <a:lnTo>
                  <a:pt x="15965566" y="5925541"/>
                </a:lnTo>
                <a:lnTo>
                  <a:pt x="0" y="5925541"/>
                </a:lnTo>
                <a:lnTo>
                  <a:pt x="0" y="0"/>
                </a:lnTo>
                <a:close/>
              </a:path>
            </a:pathLst>
          </a:custGeom>
          <a:blipFill>
            <a:blip r:embed="rId2"/>
            <a:stretch>
              <a:fillRect l="-40143" t="-119528" r="-50199" b="-49719"/>
            </a:stretch>
          </a:blipFill>
        </p:spPr>
      </p:sp>
      <p:sp>
        <p:nvSpPr>
          <p:cNvPr id="10" name="TextBox 10"/>
          <p:cNvSpPr txBox="1"/>
          <p:nvPr/>
        </p:nvSpPr>
        <p:spPr>
          <a:xfrm>
            <a:off x="2209800" y="305041"/>
            <a:ext cx="12896041" cy="1219200"/>
          </a:xfrm>
          <a:prstGeom prst="rect">
            <a:avLst/>
          </a:prstGeom>
        </p:spPr>
        <p:txBody>
          <a:bodyPr lIns="0" tIns="0" rIns="0" bIns="0" rtlCol="0" anchor="t">
            <a:spAutoFit/>
          </a:bodyPr>
          <a:lstStyle/>
          <a:p>
            <a:pPr algn="ctr">
              <a:lnSpc>
                <a:spcPts val="4500"/>
              </a:lnSpc>
            </a:pPr>
            <a:r>
              <a:rPr lang="en-US" sz="4500" b="1" dirty="0">
                <a:solidFill>
                  <a:srgbClr val="8D0000"/>
                </a:solidFill>
                <a:latin typeface="Poppins Bold"/>
                <a:ea typeface="Poppins Bold"/>
                <a:cs typeface="Poppins Bold"/>
                <a:sym typeface="Poppins Bold"/>
              </a:rPr>
              <a:t> TABLA DE CONTINGENCIA: </a:t>
            </a:r>
          </a:p>
          <a:p>
            <a:pPr algn="ctr">
              <a:lnSpc>
                <a:spcPts val="4500"/>
              </a:lnSpc>
            </a:pPr>
            <a:r>
              <a:rPr lang="en-US" sz="4500" b="1" dirty="0">
                <a:solidFill>
                  <a:srgbClr val="000000"/>
                </a:solidFill>
                <a:latin typeface="Poppins Bold"/>
                <a:ea typeface="Poppins Bold"/>
                <a:cs typeface="Poppins Bold"/>
                <a:sym typeface="Poppins Bold"/>
              </a:rPr>
              <a:t>TIPO DE DATOS X NIVEL DE INTEGRACIÓN</a:t>
            </a: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55358" y="535165"/>
            <a:ext cx="8373354" cy="1017073"/>
          </a:xfrm>
          <a:prstGeom prst="rect">
            <a:avLst/>
          </a:prstGeom>
        </p:spPr>
        <p:txBody>
          <a:bodyPr lIns="0" tIns="0" rIns="0" bIns="0" rtlCol="0" anchor="t">
            <a:spAutoFit/>
          </a:bodyPr>
          <a:lstStyle/>
          <a:p>
            <a:pPr algn="l">
              <a:lnSpc>
                <a:spcPts val="7700"/>
              </a:lnSpc>
            </a:pPr>
            <a:r>
              <a:rPr lang="es-PA" sz="7700" b="1" spc="646">
                <a:solidFill>
                  <a:srgbClr val="8D0000"/>
                </a:solidFill>
                <a:latin typeface="Poppins Bold"/>
                <a:ea typeface="Poppins Bold"/>
                <a:cs typeface="Poppins Bold"/>
                <a:sym typeface="Poppins Bold"/>
              </a:rPr>
              <a:t>Conclusiones</a:t>
            </a:r>
          </a:p>
        </p:txBody>
      </p:sp>
      <p:sp>
        <p:nvSpPr>
          <p:cNvPr id="9" name="TextBox 9"/>
          <p:cNvSpPr txBox="1"/>
          <p:nvPr/>
        </p:nvSpPr>
        <p:spPr>
          <a:xfrm>
            <a:off x="914400" y="1989772"/>
            <a:ext cx="15703942" cy="6307455"/>
          </a:xfrm>
          <a:prstGeom prst="rect">
            <a:avLst/>
          </a:prstGeom>
        </p:spPr>
        <p:txBody>
          <a:bodyPr lIns="0" tIns="0" rIns="0" bIns="0" rtlCol="0" anchor="t">
            <a:spAutoFit/>
          </a:bodyPr>
          <a:lstStyle/>
          <a:p>
            <a:pPr marL="518160" lvl="1" indent="-259080" algn="l">
              <a:lnSpc>
                <a:spcPts val="3840"/>
              </a:lnSpc>
              <a:buFont typeface="Arial"/>
              <a:buChar char="•"/>
            </a:pPr>
            <a:r>
              <a:rPr lang="es-PA" sz="2400">
                <a:solidFill>
                  <a:srgbClr val="2E2E2E"/>
                </a:solidFill>
                <a:latin typeface="Poppins"/>
                <a:ea typeface="Poppins"/>
                <a:cs typeface="Poppins"/>
                <a:sym typeface="Poppins"/>
              </a:rPr>
              <a:t>El tiempo de procesamiento (media de 13.61 h) es aproximadamente simétrico, pero supera ampliamente los estándares internos (&lt; 8 h) y el límite contractual (≤ 3.5 h para el cliente clave). </a:t>
            </a:r>
          </a:p>
          <a:p>
            <a:pPr marL="518160" lvl="1" indent="-259080" algn="l">
              <a:lnSpc>
                <a:spcPts val="3840"/>
              </a:lnSpc>
              <a:buFont typeface="Arial"/>
              <a:buChar char="•"/>
            </a:pPr>
            <a:r>
              <a:rPr lang="es-PA" sz="2400">
                <a:solidFill>
                  <a:srgbClr val="2E2E2E"/>
                </a:solidFill>
                <a:latin typeface="Poppins"/>
                <a:ea typeface="Poppins"/>
                <a:cs typeface="Poppins"/>
                <a:sym typeface="Poppins"/>
              </a:rPr>
              <a:t>Solo el 65.5% de los registros cumple el estándar de calidad de datos (≥ 4), por debajo de la meta interna del 80%. </a:t>
            </a:r>
          </a:p>
          <a:p>
            <a:pPr marL="518160" lvl="1" indent="-259080" algn="l">
              <a:lnSpc>
                <a:spcPts val="3840"/>
              </a:lnSpc>
              <a:buFont typeface="Arial"/>
              <a:buChar char="•"/>
            </a:pPr>
            <a:r>
              <a:rPr lang="es-PA" sz="2400">
                <a:solidFill>
                  <a:srgbClr val="2E2E2E"/>
                </a:solidFill>
                <a:latin typeface="Poppins"/>
                <a:ea typeface="Poppins"/>
                <a:cs typeface="Poppins"/>
                <a:sym typeface="Poppins"/>
              </a:rPr>
              <a:t>El tamaño de la base de datos explica solo el 15.1% de la variabilidad del tiempo (R²), mientras que un modelo múltiple aumenta la explicación al 35.3%, lo que evidencia que el problema es multicausal. </a:t>
            </a:r>
          </a:p>
          <a:p>
            <a:pPr marL="518160" lvl="1" indent="-259080" algn="l">
              <a:lnSpc>
                <a:spcPts val="3840"/>
              </a:lnSpc>
              <a:buFont typeface="Arial"/>
              <a:buChar char="•"/>
            </a:pPr>
            <a:r>
              <a:rPr lang="es-PA" sz="2400">
                <a:solidFill>
                  <a:srgbClr val="2E2E2E"/>
                </a:solidFill>
                <a:latin typeface="Poppins"/>
                <a:ea typeface="Poppins"/>
                <a:cs typeface="Poppins"/>
                <a:sym typeface="Poppins"/>
              </a:rPr>
              <a:t> Una alta calidad de los datos es prácticamente necesaria para cumplir el tiempo interno (Bayes: P = 1.00), además de contribuir a reducir el tiempo de procesamiento</a:t>
            </a:r>
          </a:p>
          <a:p>
            <a:pPr marL="518160" lvl="1" indent="-259080" algn="l">
              <a:lnSpc>
                <a:spcPts val="3840"/>
              </a:lnSpc>
              <a:buFont typeface="Arial"/>
              <a:buChar char="•"/>
            </a:pPr>
            <a:r>
              <a:rPr lang="es-PA" sz="2400">
                <a:solidFill>
                  <a:srgbClr val="2E2E2E"/>
                </a:solidFill>
                <a:latin typeface="Poppins"/>
                <a:ea typeface="Poppins"/>
                <a:cs typeface="Poppins"/>
                <a:sym typeface="Poppins"/>
              </a:rPr>
              <a:t>El 99.5% de los registros incumple el límite de 3.5 h exigido por un cliente clave, representando un riesgo comercial importante. </a:t>
            </a:r>
          </a:p>
          <a:p>
            <a:pPr marL="518160" lvl="1" indent="-259080" algn="l">
              <a:lnSpc>
                <a:spcPts val="3840"/>
              </a:lnSpc>
              <a:buFont typeface="Arial"/>
              <a:buChar char="•"/>
            </a:pPr>
            <a:r>
              <a:rPr lang="es-PA" sz="2400">
                <a:solidFill>
                  <a:srgbClr val="2E2E2E"/>
                </a:solidFill>
                <a:latin typeface="Poppins"/>
                <a:ea typeface="Poppins"/>
                <a:cs typeface="Poppins"/>
                <a:sym typeface="Poppins"/>
              </a:rPr>
              <a:t> El desempeño de DATATECH (3.75% de cumplimiento del SLA interno) está muy por debajo del estándar de la industria (95%–99%), lo que refleja una baja competitividad. </a:t>
            </a:r>
          </a:p>
        </p:txBody>
      </p:sp>
      <p:sp>
        <p:nvSpPr>
          <p:cNvPr id="10" name="AutoShape 10"/>
          <p:cNvSpPr/>
          <p:nvPr/>
        </p:nvSpPr>
        <p:spPr>
          <a:xfrm>
            <a:off x="-1458143" y="1552238"/>
            <a:ext cx="10602143" cy="0"/>
          </a:xfrm>
          <a:prstGeom prst="line">
            <a:avLst/>
          </a:prstGeom>
          <a:ln w="28575" cap="flat">
            <a:solidFill>
              <a:srgbClr val="000000"/>
            </a:solidFill>
            <a:prstDash val="solid"/>
            <a:headEnd type="none" w="sm" len="sm"/>
            <a:tailEnd type="none" w="sm" len="sm"/>
          </a:ln>
        </p:spPr>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555358" y="878938"/>
            <a:ext cx="10882384" cy="1109988"/>
          </a:xfrm>
          <a:prstGeom prst="rect">
            <a:avLst/>
          </a:prstGeom>
        </p:spPr>
        <p:txBody>
          <a:bodyPr lIns="0" tIns="0" rIns="0" bIns="0" rtlCol="0" anchor="t">
            <a:spAutoFit/>
          </a:bodyPr>
          <a:lstStyle/>
          <a:p>
            <a:pPr algn="l">
              <a:lnSpc>
                <a:spcPts val="7700"/>
              </a:lnSpc>
            </a:pPr>
            <a:r>
              <a:rPr lang="en-US" sz="7700" b="1" spc="646">
                <a:solidFill>
                  <a:srgbClr val="8D0000"/>
                </a:solidFill>
                <a:latin typeface="Poppins Bold"/>
                <a:ea typeface="Poppins Bold"/>
                <a:cs typeface="Poppins Bold"/>
                <a:sym typeface="Poppins Bold"/>
              </a:rPr>
              <a:t>Recomendaciones</a:t>
            </a:r>
          </a:p>
        </p:txBody>
      </p:sp>
      <p:sp>
        <p:nvSpPr>
          <p:cNvPr id="9" name="TextBox 9"/>
          <p:cNvSpPr txBox="1"/>
          <p:nvPr/>
        </p:nvSpPr>
        <p:spPr>
          <a:xfrm>
            <a:off x="1555358" y="2531851"/>
            <a:ext cx="15703942" cy="5821680"/>
          </a:xfrm>
          <a:prstGeom prst="rect">
            <a:avLst/>
          </a:prstGeom>
        </p:spPr>
        <p:txBody>
          <a:bodyPr lIns="0" tIns="0" rIns="0" bIns="0" rtlCol="0" anchor="t">
            <a:spAutoFit/>
          </a:bodyPr>
          <a:lstStyle/>
          <a:p>
            <a:pPr marL="518160" lvl="1" indent="-259080" algn="l">
              <a:lnSpc>
                <a:spcPts val="3840"/>
              </a:lnSpc>
              <a:buFont typeface="Arial"/>
              <a:buChar char="•"/>
            </a:pPr>
            <a:r>
              <a:rPr lang="en-US" sz="2400">
                <a:solidFill>
                  <a:srgbClr val="2E2E2E"/>
                </a:solidFill>
                <a:latin typeface="Poppins"/>
                <a:ea typeface="Poppins"/>
                <a:cs typeface="Poppins"/>
                <a:sym typeface="Poppins"/>
              </a:rPr>
              <a:t> Implementar un programa de gestión de calidad de datos (limpieza, validación y estandarización) para reducir los tiempos de procesamiento. </a:t>
            </a:r>
          </a:p>
          <a:p>
            <a:pPr marL="518160" lvl="1" indent="-259080" algn="l">
              <a:lnSpc>
                <a:spcPts val="3840"/>
              </a:lnSpc>
              <a:buFont typeface="Arial"/>
              <a:buChar char="•"/>
            </a:pPr>
            <a:r>
              <a:rPr lang="en-US" sz="2400">
                <a:solidFill>
                  <a:srgbClr val="2E2E2E"/>
                </a:solidFill>
                <a:latin typeface="Poppins"/>
                <a:ea typeface="Poppins"/>
                <a:cs typeface="Poppins"/>
                <a:sym typeface="Poppins"/>
              </a:rPr>
              <a:t>Invertir en infraestructura y optimizar los procesos, ya que el problema no depende del tipo de dato ni de un segmento específico. </a:t>
            </a:r>
          </a:p>
          <a:p>
            <a:pPr marL="518160" lvl="1" indent="-259080" algn="l">
              <a:lnSpc>
                <a:spcPts val="3840"/>
              </a:lnSpc>
              <a:buFont typeface="Arial"/>
              <a:buChar char="•"/>
            </a:pPr>
            <a:r>
              <a:rPr lang="en-US" sz="2400">
                <a:solidFill>
                  <a:srgbClr val="2E2E2E"/>
                </a:solidFill>
                <a:latin typeface="Poppins"/>
                <a:ea typeface="Poppins"/>
                <a:cs typeface="Poppins"/>
                <a:sym typeface="Poppins"/>
              </a:rPr>
              <a:t> Diseñar un plan de contingencia para el cliente con SLA de 3.5 horas, mediante la asignación de recursos, optimización de procesos o renegociación de condiciones. </a:t>
            </a:r>
          </a:p>
          <a:p>
            <a:pPr marL="518160" lvl="1" indent="-259080" algn="l">
              <a:lnSpc>
                <a:spcPts val="3840"/>
              </a:lnSpc>
              <a:buFont typeface="Arial"/>
              <a:buChar char="•"/>
            </a:pPr>
            <a:r>
              <a:rPr lang="en-US" sz="2400">
                <a:solidFill>
                  <a:srgbClr val="2E2E2E"/>
                </a:solidFill>
                <a:latin typeface="Poppins"/>
                <a:ea typeface="Poppins"/>
                <a:cs typeface="Poppins"/>
                <a:sym typeface="Poppins"/>
              </a:rPr>
              <a:t>Fortalecer la experiencia del personal y el nivel de integración entre sistemas, debido a su impacto positivo en la reducción del tiempo. </a:t>
            </a:r>
          </a:p>
          <a:p>
            <a:pPr marL="518160" lvl="1" indent="-259080" algn="l">
              <a:lnSpc>
                <a:spcPts val="3840"/>
              </a:lnSpc>
              <a:buFont typeface="Arial"/>
              <a:buChar char="•"/>
            </a:pPr>
            <a:r>
              <a:rPr lang="en-US" sz="2400">
                <a:solidFill>
                  <a:srgbClr val="2E2E2E"/>
                </a:solidFill>
                <a:latin typeface="Poppins"/>
                <a:ea typeface="Poppins"/>
                <a:cs typeface="Poppins"/>
                <a:sym typeface="Poppins"/>
              </a:rPr>
              <a:t>Establecer metas de cumplimiento del SLA alineadas con los estándares de la industria (95%–99%) y revisar periódicamente los indicadores. Investigar los cinco valores atípicos identificados y la combinación estructurados/nivel de integración 3, por concentrar la mayor cantidad de incumplimientos. </a:t>
            </a:r>
          </a:p>
        </p:txBody>
      </p:sp>
      <p:sp>
        <p:nvSpPr>
          <p:cNvPr id="10" name="AutoShape 10"/>
          <p:cNvSpPr/>
          <p:nvPr/>
        </p:nvSpPr>
        <p:spPr>
          <a:xfrm>
            <a:off x="-1458143" y="2317539"/>
            <a:ext cx="10602143" cy="0"/>
          </a:xfrm>
          <a:prstGeom prst="line">
            <a:avLst/>
          </a:prstGeom>
          <a:ln w="28575" cap="flat">
            <a:solidFill>
              <a:srgbClr val="000000"/>
            </a:solidFill>
            <a:prstDash val="solid"/>
            <a:headEnd type="none" w="sm" len="sm"/>
            <a:tailEnd type="none" w="sm" len="sm"/>
          </a:ln>
        </p:spPr>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957323" y="4681192"/>
            <a:ext cx="8373354" cy="2112653"/>
          </a:xfrm>
          <a:prstGeom prst="rect">
            <a:avLst/>
          </a:prstGeom>
        </p:spPr>
        <p:txBody>
          <a:bodyPr lIns="0" tIns="0" rIns="0" bIns="0" rtlCol="0" anchor="t">
            <a:spAutoFit/>
          </a:bodyPr>
          <a:lstStyle/>
          <a:p>
            <a:pPr algn="ctr">
              <a:lnSpc>
                <a:spcPts val="7800"/>
              </a:lnSpc>
            </a:pPr>
            <a:r>
              <a:rPr lang="en-US" sz="7800" b="1">
                <a:solidFill>
                  <a:srgbClr val="8D0000"/>
                </a:solidFill>
                <a:latin typeface="Poppins Bold"/>
                <a:ea typeface="Poppins Bold"/>
                <a:cs typeface="Poppins Bold"/>
                <a:sym typeface="Poppins Bold"/>
              </a:rPr>
              <a:t>¡MUCHAS GRACIAS!</a:t>
            </a:r>
          </a:p>
        </p:txBody>
      </p:sp>
      <p:grpSp>
        <p:nvGrpSpPr>
          <p:cNvPr id="9" name="Group 9"/>
          <p:cNvGrpSpPr/>
          <p:nvPr/>
        </p:nvGrpSpPr>
        <p:grpSpPr>
          <a:xfrm>
            <a:off x="4382758" y="2625183"/>
            <a:ext cx="9135021" cy="953993"/>
            <a:chOff x="0" y="0"/>
            <a:chExt cx="12180028" cy="1271990"/>
          </a:xfrm>
        </p:grpSpPr>
        <p:grpSp>
          <p:nvGrpSpPr>
            <p:cNvPr id="10" name="Group 10"/>
            <p:cNvGrpSpPr/>
            <p:nvPr/>
          </p:nvGrpSpPr>
          <p:grpSpPr>
            <a:xfrm rot="-2789597">
              <a:off x="-13463" y="287933"/>
              <a:ext cx="954081" cy="372716"/>
              <a:chOff x="0" y="0"/>
              <a:chExt cx="812800" cy="317524"/>
            </a:xfrm>
          </p:grpSpPr>
          <p:sp>
            <p:nvSpPr>
              <p:cNvPr id="11" name="Freeform 11"/>
              <p:cNvSpPr/>
              <p:nvPr/>
            </p:nvSpPr>
            <p:spPr>
              <a:xfrm>
                <a:off x="0" y="0"/>
                <a:ext cx="812800" cy="317524"/>
              </a:xfrm>
              <a:custGeom>
                <a:avLst/>
                <a:gdLst/>
                <a:ahLst/>
                <a:cxnLst/>
                <a:rect l="l" t="t" r="r" b="b"/>
                <a:pathLst>
                  <a:path w="812800" h="317524">
                    <a:moveTo>
                      <a:pt x="406400" y="0"/>
                    </a:moveTo>
                    <a:lnTo>
                      <a:pt x="812800" y="317524"/>
                    </a:lnTo>
                    <a:lnTo>
                      <a:pt x="0" y="317524"/>
                    </a:lnTo>
                    <a:lnTo>
                      <a:pt x="406400" y="0"/>
                    </a:lnTo>
                    <a:close/>
                  </a:path>
                </a:pathLst>
              </a:custGeom>
              <a:solidFill>
                <a:srgbClr val="8D0000"/>
              </a:solidFill>
            </p:spPr>
          </p:sp>
          <p:sp>
            <p:nvSpPr>
              <p:cNvPr id="12" name="TextBox 12"/>
              <p:cNvSpPr txBox="1"/>
              <p:nvPr/>
            </p:nvSpPr>
            <p:spPr>
              <a:xfrm>
                <a:off x="127000" y="-185953"/>
                <a:ext cx="558800" cy="480797"/>
              </a:xfrm>
              <a:prstGeom prst="rect">
                <a:avLst/>
              </a:prstGeom>
            </p:spPr>
            <p:txBody>
              <a:bodyPr lIns="50800" tIns="50800" rIns="50800" bIns="50800" rtlCol="0" anchor="ctr"/>
              <a:lstStyle/>
              <a:p>
                <a:pPr algn="ctr">
                  <a:lnSpc>
                    <a:spcPts val="6249"/>
                  </a:lnSpc>
                </a:pPr>
                <a:endParaRPr/>
              </a:p>
            </p:txBody>
          </p:sp>
        </p:grpSp>
        <p:sp>
          <p:nvSpPr>
            <p:cNvPr id="13" name="TextBox 13"/>
            <p:cNvSpPr txBox="1"/>
            <p:nvPr/>
          </p:nvSpPr>
          <p:spPr>
            <a:xfrm>
              <a:off x="1167135" y="971878"/>
              <a:ext cx="11012893" cy="300112"/>
            </a:xfrm>
            <a:prstGeom prst="rect">
              <a:avLst/>
            </a:prstGeom>
          </p:spPr>
          <p:txBody>
            <a:bodyPr lIns="0" tIns="0" rIns="0" bIns="0" rtlCol="0" anchor="t">
              <a:spAutoFit/>
            </a:bodyPr>
            <a:lstStyle/>
            <a:p>
              <a:pPr algn="l">
                <a:lnSpc>
                  <a:spcPts val="1636"/>
                </a:lnSpc>
              </a:pPr>
              <a:r>
                <a:rPr lang="en-US" sz="1652" spc="337">
                  <a:solidFill>
                    <a:srgbClr val="8D0000"/>
                  </a:solidFill>
                  <a:latin typeface="The Seasons"/>
                  <a:ea typeface="The Seasons"/>
                  <a:cs typeface="The Seasons"/>
                  <a:sym typeface="The Seasons"/>
                </a:rPr>
                <a:t>MÁS ALLÁ DE LA EFICIENCIA OPERATIVA</a:t>
              </a:r>
            </a:p>
          </p:txBody>
        </p:sp>
        <p:sp>
          <p:nvSpPr>
            <p:cNvPr id="14" name="TextBox 14"/>
            <p:cNvSpPr txBox="1"/>
            <p:nvPr/>
          </p:nvSpPr>
          <p:spPr>
            <a:xfrm>
              <a:off x="1167135" y="56948"/>
              <a:ext cx="5170547" cy="923022"/>
            </a:xfrm>
            <a:prstGeom prst="rect">
              <a:avLst/>
            </a:prstGeom>
          </p:spPr>
          <p:txBody>
            <a:bodyPr lIns="0" tIns="0" rIns="0" bIns="0" rtlCol="0" anchor="t">
              <a:spAutoFit/>
            </a:bodyPr>
            <a:lstStyle/>
            <a:p>
              <a:pPr algn="l">
                <a:lnSpc>
                  <a:spcPts val="5620"/>
                </a:lnSpc>
              </a:pPr>
              <a:r>
                <a:rPr lang="en-US" sz="4014" b="1" i="1">
                  <a:solidFill>
                    <a:srgbClr val="000000"/>
                  </a:solidFill>
                  <a:latin typeface="Poppins Bold Italics"/>
                  <a:ea typeface="Poppins Bold Italics"/>
                  <a:cs typeface="Poppins Bold Italics"/>
                  <a:sym typeface="Poppins Bold Italics"/>
                </a:rPr>
                <a:t>DATATECH</a:t>
              </a:r>
            </a:p>
          </p:txBody>
        </p:sp>
        <p:grpSp>
          <p:nvGrpSpPr>
            <p:cNvPr id="15" name="Group 15"/>
            <p:cNvGrpSpPr/>
            <p:nvPr/>
          </p:nvGrpSpPr>
          <p:grpSpPr>
            <a:xfrm rot="-2789597">
              <a:off x="310717" y="582134"/>
              <a:ext cx="678766" cy="265163"/>
              <a:chOff x="0" y="0"/>
              <a:chExt cx="812800" cy="317524"/>
            </a:xfrm>
          </p:grpSpPr>
          <p:sp>
            <p:nvSpPr>
              <p:cNvPr id="16" name="Freeform 16"/>
              <p:cNvSpPr/>
              <p:nvPr/>
            </p:nvSpPr>
            <p:spPr>
              <a:xfrm>
                <a:off x="0" y="0"/>
                <a:ext cx="812800" cy="317524"/>
              </a:xfrm>
              <a:custGeom>
                <a:avLst/>
                <a:gdLst/>
                <a:ahLst/>
                <a:cxnLst/>
                <a:rect l="l" t="t" r="r" b="b"/>
                <a:pathLst>
                  <a:path w="812800" h="317524">
                    <a:moveTo>
                      <a:pt x="406400" y="0"/>
                    </a:moveTo>
                    <a:lnTo>
                      <a:pt x="812800" y="317524"/>
                    </a:lnTo>
                    <a:lnTo>
                      <a:pt x="0" y="317524"/>
                    </a:lnTo>
                    <a:lnTo>
                      <a:pt x="406400" y="0"/>
                    </a:lnTo>
                    <a:close/>
                  </a:path>
                </a:pathLst>
              </a:custGeom>
              <a:solidFill>
                <a:srgbClr val="C27F7F"/>
              </a:solidFill>
            </p:spPr>
          </p:sp>
          <p:sp>
            <p:nvSpPr>
              <p:cNvPr id="17" name="TextBox 17"/>
              <p:cNvSpPr txBox="1"/>
              <p:nvPr/>
            </p:nvSpPr>
            <p:spPr>
              <a:xfrm>
                <a:off x="127000" y="-185953"/>
                <a:ext cx="558800" cy="480797"/>
              </a:xfrm>
              <a:prstGeom prst="rect">
                <a:avLst/>
              </a:prstGeom>
            </p:spPr>
            <p:txBody>
              <a:bodyPr lIns="50800" tIns="50800" rIns="50800" bIns="50800" rtlCol="0" anchor="ctr"/>
              <a:lstStyle/>
              <a:p>
                <a:pPr algn="ctr">
                  <a:lnSpc>
                    <a:spcPts val="6249"/>
                  </a:lnSpc>
                </a:pPr>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Evento principal">
  <a:themeElements>
    <a:clrScheme name="Evento principal">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Evento principal">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vento principal">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docProps/app.xml><?xml version="1.0" encoding="utf-8"?>
<Properties xmlns="http://schemas.openxmlformats.org/officeDocument/2006/extended-properties" xmlns:vt="http://schemas.openxmlformats.org/officeDocument/2006/docPropsVTypes">
  <Template>TM04033927[[fn=Evento principal]]</Template>
  <TotalTime>72</TotalTime>
  <Words>718</Words>
  <Application>Microsoft Office PowerPoint</Application>
  <PresentationFormat>Personalizado</PresentationFormat>
  <Paragraphs>66</Paragraphs>
  <Slides>16</Slides>
  <Notes>0</Notes>
  <HiddenSlides>0</HiddenSlides>
  <MMClips>0</MMClips>
  <ScaleCrop>false</ScaleCrop>
  <HeadingPairs>
    <vt:vector size="8" baseType="variant">
      <vt:variant>
        <vt:lpstr>Fuentes usadas</vt:lpstr>
      </vt:variant>
      <vt:variant>
        <vt:i4>9</vt:i4>
      </vt:variant>
      <vt:variant>
        <vt:lpstr>Tema</vt:lpstr>
      </vt:variant>
      <vt:variant>
        <vt:i4>1</vt:i4>
      </vt:variant>
      <vt:variant>
        <vt:lpstr>Servidores OLE incrustados</vt:lpstr>
      </vt:variant>
      <vt:variant>
        <vt:i4>2</vt:i4>
      </vt:variant>
      <vt:variant>
        <vt:lpstr>Títulos de diapositiva</vt:lpstr>
      </vt:variant>
      <vt:variant>
        <vt:i4>16</vt:i4>
      </vt:variant>
    </vt:vector>
  </HeadingPairs>
  <TitlesOfParts>
    <vt:vector size="28" baseType="lpstr">
      <vt:lpstr>Howell</vt:lpstr>
      <vt:lpstr>Canva Sans Bold</vt:lpstr>
      <vt:lpstr>Disket Mono</vt:lpstr>
      <vt:lpstr>Poppins</vt:lpstr>
      <vt:lpstr>Impact</vt:lpstr>
      <vt:lpstr>Poppins Bold Italics</vt:lpstr>
      <vt:lpstr>The Seasons</vt:lpstr>
      <vt:lpstr>Arial</vt:lpstr>
      <vt:lpstr>Poppins Bold</vt:lpstr>
      <vt:lpstr>Evento principal</vt:lpstr>
      <vt:lpstr>Worksheet</vt:lpstr>
      <vt:lpstr>Hoja de cálculo de Microsoft Excel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Presentacion_G3</dc:title>
  <dc:creator>Usuario</dc:creator>
  <cp:lastModifiedBy>GEIZI ICAZA</cp:lastModifiedBy>
  <cp:revision>3</cp:revision>
  <dcterms:created xsi:type="dcterms:W3CDTF">2006-08-16T00:00:00Z</dcterms:created>
  <dcterms:modified xsi:type="dcterms:W3CDTF">2026-10-26T03:53:44Z</dcterms:modified>
  <dc:identifier>DAHOrGn1kws</dc:identifier>
</cp:coreProperties>
</file>